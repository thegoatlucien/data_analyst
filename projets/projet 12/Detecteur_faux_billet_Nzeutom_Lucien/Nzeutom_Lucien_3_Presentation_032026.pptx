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D8638D-5F4E-41C4-A16A-A33532E779AE}" v="1" dt="2026-03-25T00:33:12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91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D2340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315200" y="-640080"/>
            <a:ext cx="2743200" cy="27432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faux billets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2860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12 — Organisation nationale de lutte contre le faux-monnayage (ONCFM)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de licence — 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8288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1704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609344"/>
            <a:ext cx="457200" cy="457200"/>
          </a:xfrm>
          <a:prstGeom prst="ellipse">
            <a:avLst/>
          </a:prstGeom>
          <a:solidFill>
            <a:srgbClr val="5BA8C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68249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analyse des données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121408"/>
            <a:ext cx="457200" cy="457200"/>
          </a:xfrm>
          <a:prstGeom prst="ellipse">
            <a:avLst/>
          </a:prstGeom>
          <a:solidFill>
            <a:srgbClr val="4A9B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194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valeurs manquantes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457200" cy="457200"/>
          </a:xfrm>
          <a:prstGeom prst="ellipse">
            <a:avLst/>
          </a:prstGeom>
          <a:solidFill>
            <a:srgbClr val="3A8EA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70662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supervisée (4 modèles)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2A81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2186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non supervisé (K-Means)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1A747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7307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&amp; sélection du modèle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169664"/>
            <a:ext cx="457200" cy="457200"/>
          </a:xfrm>
          <a:prstGeom prst="ellipse">
            <a:avLst/>
          </a:prstGeom>
          <a:solidFill>
            <a:srgbClr val="0A67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4008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24281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détection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4023360" cy="1554480"/>
          </a:xfrm>
          <a:prstGeom prst="rect">
            <a:avLst/>
          </a:prstGeom>
          <a:solidFill>
            <a:srgbClr val="162D4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L'ONCFM souhaite un algorithme automatique pour différencier les vrais des faux billets à partir de leurs dimensions géométriques.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3108960"/>
            <a:ext cx="4023360" cy="1554480"/>
          </a:xfrm>
          <a:prstGeom prst="rect">
            <a:avLst/>
          </a:prstGeom>
          <a:solidFill>
            <a:srgbClr val="162D4F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84632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35204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les données géométriques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4 modèles de classification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l'algorithme le plus performant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33472" y="10058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633472" y="1005840"/>
            <a:ext cx="2011680" cy="7315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633472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33472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9744" y="10058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09744" y="1005840"/>
            <a:ext cx="201168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09744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09744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86016" y="10058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986016" y="1005840"/>
            <a:ext cx="2011680" cy="7315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986016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86016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géométriques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dimensions géométriques utilisées 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87121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3152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Diagonale du billet (mm)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18688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31520" y="31821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height_left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0" y="31821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Hauteur côté gauche (mm)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731520" y="35295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height_right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77440" y="35295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Hauteur côté droit (mm)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87121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07492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margin_low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inférieure (mm)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218688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074920" y="31821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margin_up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20840" y="31821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supérieure (mm)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56616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074920" y="35295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20840" y="35295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du billet (mm)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billets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0"/>
            <a:ext cx="41148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0" y="1097280"/>
            <a:ext cx="411480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47548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</a:t>
            </a: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billets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54880" y="15087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billets (66.7%)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géométriques conformes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spécifications officielles.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0" y="2834640"/>
            <a:ext cx="411480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7548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billets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54880" y="32461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billets (33.3%)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Différences subtiles dans les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— invisibles à l'œil nu.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des caractéristiques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histogrammes révèlent une séparation claire sur margin_low, length et margin_up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60120"/>
            <a:ext cx="896112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les plus discriminantes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vs margin_low et margin_up vs height_left montrent une séparation visuelle nette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05840"/>
            <a:ext cx="877824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données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des valeurs manquantes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2743200" cy="1645920"/>
          </a:xfrm>
          <a:prstGeom prst="rect">
            <a:avLst/>
          </a:prstGeom>
          <a:solidFill>
            <a:srgbClr val="162D4F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valeurs manquantes sur margin_low (2.47% du dataset)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840480" y="3017520"/>
            <a:ext cx="2743200" cy="1645920"/>
          </a:xfrm>
          <a:prstGeom prst="rect">
            <a:avLst/>
          </a:prstGeom>
          <a:solidFill>
            <a:srgbClr val="162D4F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02336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0" y="3429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par médiane par groupe (is_genuine)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3017520"/>
            <a:ext cx="2011680" cy="1645920"/>
          </a:xfrm>
          <a:prstGeom prst="rect">
            <a:avLst/>
          </a:prstGeom>
          <a:solidFill>
            <a:srgbClr val="162D4F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76656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3429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100% complet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valeurs manquantes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27432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algorithmes testés et comparés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1965960" cy="1005840"/>
          </a:xfrm>
          <a:prstGeom prst="rect">
            <a:avLst/>
          </a:prstGeom>
          <a:solidFill>
            <a:srgbClr val="3498DB">
              <a:alpha val="85000"/>
            </a:srgbClr>
          </a:solidFill>
          <a:ln w="1905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24912" y="3657600"/>
            <a:ext cx="1965960" cy="1005840"/>
          </a:xfrm>
          <a:prstGeom prst="rect">
            <a:avLst/>
          </a:prstGeom>
          <a:solidFill>
            <a:srgbClr val="9B59B6">
              <a:alpha val="85000"/>
            </a:srgbClr>
          </a:solidFill>
          <a:ln w="1905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24912" y="36576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01184" y="3657600"/>
            <a:ext cx="1965960" cy="1005840"/>
          </a:xfrm>
          <a:prstGeom prst="rect">
            <a:avLst/>
          </a:prstGeom>
          <a:solidFill>
            <a:srgbClr val="E67E22">
              <a:alpha val="85000"/>
            </a:srgbClr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901184" y="36576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077456" y="3657600"/>
            <a:ext cx="1965960" cy="1005840"/>
          </a:xfrm>
          <a:prstGeom prst="rect">
            <a:avLst/>
          </a:prstGeom>
          <a:solidFill>
            <a:srgbClr val="2ECC71">
              <a:alpha val="85000"/>
            </a:srgbClr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077456" y="36576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 — Meilleur modèle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1645920" cy="36576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</a:t>
            </a: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Train/Test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entraînement (1 050 billets)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test (450 billets)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Stratification preservée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0233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846320" y="896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20700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: 99.33%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(Faux) : 0.99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FP + 2 FN sur 450 billets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2542032"/>
            <a:ext cx="7772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 dirty="0" err="1">
                <a:solidFill>
                  <a:srgbClr val="2ECC71"/>
                </a:solidFill>
                <a:latin typeface="Calibri"/>
                <a:ea typeface="Calibri"/>
                <a:cs typeface="Calibri"/>
              </a:rPr>
              <a:t>Pourquoi</a:t>
            </a:r>
            <a:r>
              <a:rPr lang="en-US" sz="1200" b="1" dirty="0">
                <a:solidFill>
                  <a:srgbClr val="2ECC71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200" b="1" dirty="0" err="1">
                <a:solidFill>
                  <a:srgbClr val="2ECC71"/>
                </a:solidFill>
                <a:latin typeface="Calibri"/>
                <a:ea typeface="Calibri"/>
                <a:cs typeface="Calibri"/>
              </a:rPr>
              <a:t>régression</a:t>
            </a:r>
            <a:r>
              <a:rPr lang="en-US" sz="1200" b="1" dirty="0">
                <a:solidFill>
                  <a:srgbClr val="2ECC7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 dirty="0" err="1">
                <a:solidFill>
                  <a:srgbClr val="2ECC71"/>
                </a:solidFill>
                <a:latin typeface="Calibri"/>
                <a:ea typeface="Calibri"/>
                <a:cs typeface="Calibri"/>
              </a:rPr>
              <a:t>logistique</a:t>
            </a:r>
            <a:r>
              <a:rPr lang="en-US" sz="1200" b="1" dirty="0">
                <a:solidFill>
                  <a:srgbClr val="2ECC71"/>
                </a:solidFill>
                <a:latin typeface="Calibri"/>
                <a:ea typeface="Calibri"/>
                <a:cs typeface="Calibri"/>
              </a:rPr>
              <a:t> ?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81635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accuracy (99.33%) · Probabilités fiables · Très rapide · Interprétable via ses coefficients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probabilités de prévision :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77640"/>
          <a:ext cx="8229600" cy="9753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P(Faux)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P(Vrai)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FAUX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FAUX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1645920" cy="36576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KNN classifie un billet en regardant ses k=5 plus proches voisins dans l'espace des caractéristiques. La classe majority vote détermine la prédiction.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846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2344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: 98.67%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(Faux) : 98.65%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(Faux) : 97.33%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FP | 4 FN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probabilités (KNN) :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8229600" cy="10363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P(Faux)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P(Vrai)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 billet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Faux billet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FAUX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limite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FAUX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9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KNN offre des probabilités plus graduées que la régression logistique, utiles pour les cas limites.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Importances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1645920" cy="36576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474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8503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133856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arbres de décision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: 98.67%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FP | 3 FN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3474720" cy="1188720"/>
          </a:xfrm>
          <a:prstGeom prst="rect">
            <a:avLst/>
          </a:prstGeom>
          <a:solidFill>
            <a:srgbClr val="F1F8E9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clés (par importance)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7919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margin_low  2. length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margin_up  4. height_left</a:t>
            </a:r>
            <a:endParaRPr lang="en-US" sz="11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777240"/>
            <a:ext cx="4937760" cy="2743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374904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48640" y="38404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variables margin_low et length sont de loin les plus discriminantes — elles permettent à elles seules de séparer la grande majorité des vrais et faux billets.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— Apprentissage non supervisé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1645920" cy="36576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114800" cy="1463040"/>
          </a:xfrm>
          <a:prstGeom prst="rect">
            <a:avLst/>
          </a:prstGeom>
          <a:solidFill>
            <a:srgbClr val="162D4F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Méthode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avec k=2 clusters. Les centroïdes sont utilisés pour identifier quel cluster correspond aux vrais / faux billets sans utiliser les labels.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3931920" cy="1463040"/>
          </a:xfrm>
          <a:prstGeom prst="rect">
            <a:avLst/>
          </a:prstGeom>
          <a:solidFill>
            <a:srgbClr val="162D4F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937760" y="914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20700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: 98.44%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FP | 4 FN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structure naturelle des données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 bien à la réalité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68880"/>
            <a:ext cx="8595360" cy="2286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de confusion — Les 4 modèles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faux négatifs (FN) sont critiques : un faux billet non détecté est un échec de sécurité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05840"/>
            <a:ext cx="8961120" cy="210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29184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640080" y="33649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Négatifs (FN)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648456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billets classifiés comme vrais.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sont les erreurs les plus dangereuses pour la sécurité monétaire.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329184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846320" y="33649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Positifs (FP)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3648456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 billets classifiés comme faux.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dangereux mais génèrent des rejets injustifiés.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performances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40080"/>
            <a:ext cx="8961120" cy="2896723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836968"/>
              </p:ext>
            </p:extLst>
          </p:nvPr>
        </p:nvGraphicFramePr>
        <p:xfrm>
          <a:off x="403059" y="3674123"/>
          <a:ext cx="8229600" cy="1295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54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498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Régression Logistique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🥇 #1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3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détection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2011680"/>
          </a:xfrm>
          <a:prstGeom prst="rect">
            <a:avLst/>
          </a:prstGeom>
          <a:solidFill>
            <a:srgbClr val="162D4F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fichier CSV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script.py --fichier billets.csv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automatique d'un fichier contenant plusieurs billets. Résultats sauvegardés dans un CSV de sortie avec les prédictions et niveaux de confiance.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2011680"/>
          </a:xfrm>
          <a:prstGeom prst="rect">
            <a:avLst/>
          </a:prstGeom>
          <a:solidFill>
            <a:srgbClr val="162D4F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4632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manuel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script.py --manuel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interactive des 6 dimensions géométriques d'un billet. Le script retourne immédiatement le résultat avec un niveau de confiance.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sortie :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778771"/>
              </p:ext>
            </p:extLst>
          </p:nvPr>
        </p:nvGraphicFramePr>
        <p:xfrm>
          <a:off x="274320" y="3383280"/>
          <a:ext cx="8412480" cy="96012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height_left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height_right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margin_low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margin_up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171.81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104.86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104.95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4.52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2.89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112.83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2D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</a:t>
                      </a:r>
                      <a:r>
                        <a:rPr lang="en-US" sz="9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67.54%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104.20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104.15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3.35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111.60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FAUX</a:t>
                      </a:r>
                      <a:r>
                        <a:rPr lang="en-US" sz="9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99.96%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170.50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104.50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104.40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110.80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FAUX</a:t>
                      </a:r>
                      <a:r>
                        <a:rPr lang="en-US" sz="9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détaillée — Boxplots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boxplots confirment les outliers et la séparation entre les deux classes sur margin_low et length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60120"/>
            <a:ext cx="896112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498080" y="3657600"/>
            <a:ext cx="2286000" cy="22860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411480" cy="41148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0972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modèles atteignent une accuracy &gt; 98% — les données géométriques sont très discriminantes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87452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logistique est le meilleur modèle : 99.33% d'accuracy, seulement 3 erreurs sur 450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411480" cy="41148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65176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margin_low et length sont les caractéristiques les plus importantes pour la détection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411480" cy="41148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42900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script est déployable en production — mode fichier CSV et mode manuel disponibles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1024</Words>
  <Application>Microsoft Office PowerPoint</Application>
  <PresentationFormat>Affichage à l'écran (16:9)</PresentationFormat>
  <Paragraphs>274</Paragraphs>
  <Slides>18</Slides>
  <Notes>18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Détection automatique de faux billets - ONCFM</dc:title>
  <dc:subject>Projet 12 - Machine Learning</dc:subject>
  <dc:creator>Étudiant - Licence</dc:creator>
  <cp:lastModifiedBy>lucien nzeutom</cp:lastModifiedBy>
  <cp:revision>16</cp:revision>
  <dcterms:created xsi:type="dcterms:W3CDTF">2026-02-01T22:49:25Z</dcterms:created>
  <dcterms:modified xsi:type="dcterms:W3CDTF">2026-03-25T11:08:22Z</dcterms:modified>
</cp:coreProperties>
</file>