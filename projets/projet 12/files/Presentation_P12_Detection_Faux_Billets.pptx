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4" d="100"/>
          <a:sy n="124" d="100"/>
        </p:scale>
        <p:origin x="7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9144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097280"/>
            <a:ext cx="3657600" cy="3657600"/>
          </a:xfrm>
          <a:prstGeom prst="ellipse">
            <a:avLst/>
          </a:prstGeom>
          <a:solidFill>
            <a:srgbClr val="0D2340"/>
          </a:solidFill>
          <a:ln w="1270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7315200" y="-640080"/>
            <a:ext cx="2743200" cy="274320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6858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automatique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faux billets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3200400"/>
            <a:ext cx="2286000" cy="457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48640" y="33832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12 — Organisation nationale de lutte contre le faux-monnayage (ONCFM)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840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de licence — 2025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la présentation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804672"/>
            <a:ext cx="182880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640080" y="1097280"/>
            <a:ext cx="457200" cy="45720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640080" y="1097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1170432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objectifs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609344"/>
            <a:ext cx="457200" cy="457200"/>
          </a:xfrm>
          <a:prstGeom prst="ellipse">
            <a:avLst/>
          </a:prstGeom>
          <a:solidFill>
            <a:srgbClr val="5BA8C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640080" y="16093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80160" y="1682496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 &amp; analyse des données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121408"/>
            <a:ext cx="457200" cy="457200"/>
          </a:xfrm>
          <a:prstGeom prst="ellipse">
            <a:avLst/>
          </a:prstGeom>
          <a:solidFill>
            <a:srgbClr val="4A9BB5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40080" y="2121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21945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valeurs manquantes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2633472"/>
            <a:ext cx="457200" cy="457200"/>
          </a:xfrm>
          <a:prstGeom prst="ellipse">
            <a:avLst/>
          </a:prstGeom>
          <a:solidFill>
            <a:srgbClr val="3A8EA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640080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80160" y="2706624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 supervisée (4 modèles)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2A818F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280160" y="3218688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Apprentissage non supervisé (K-Means)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457200" cy="457200"/>
          </a:xfrm>
          <a:prstGeom prst="ellipse">
            <a:avLst/>
          </a:prstGeom>
          <a:solidFill>
            <a:srgbClr val="1A747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4008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280160" y="3730752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&amp; sélection du modèle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640080" y="4169664"/>
            <a:ext cx="457200" cy="457200"/>
          </a:xfrm>
          <a:prstGeom prst="ellipse">
            <a:avLst/>
          </a:prstGeom>
          <a:solidFill>
            <a:srgbClr val="0A676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640080" y="4169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80160" y="4242816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 détection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0"/>
            <a:ext cx="54864" cy="109728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Objectifs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3108960"/>
            <a:ext cx="4023360" cy="1554480"/>
          </a:xfrm>
          <a:prstGeom prst="rect">
            <a:avLst/>
          </a:prstGeom>
          <a:solidFill>
            <a:srgbClr val="162D4F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640080" y="32004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L'ONCFM souhaite un algorithme automatique pour différencier les vrais des faux billets à partir de leurs dimensions géométriques.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63440" y="3108960"/>
            <a:ext cx="4023360" cy="1554480"/>
          </a:xfrm>
          <a:prstGeom prst="rect">
            <a:avLst/>
          </a:prstGeom>
          <a:solidFill>
            <a:srgbClr val="162D4F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846320" y="32004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46320" y="3520440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Analyser les données géométriques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Tester 4 modèles de classification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Déployer l'algorithme le plus performant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dataset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13232"/>
            <a:ext cx="164592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20116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2011680" cy="7315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1 500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18288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Billets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33472" y="1005840"/>
            <a:ext cx="20116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2633472" y="1005840"/>
            <a:ext cx="2011680" cy="73152"/>
          </a:xfrm>
          <a:prstGeom prst="rect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2633472" y="11887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1 000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633472" y="18288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Billets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vrais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09744" y="1005840"/>
            <a:ext cx="20116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4809744" y="1005840"/>
            <a:ext cx="2011680" cy="73152"/>
          </a:xfrm>
          <a:prstGeom prst="rect">
            <a:avLst/>
          </a:prstGeom>
          <a:solidFill>
            <a:srgbClr val="E74C3C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4809744" y="11887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809744" y="18288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Billets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faux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986016" y="1005840"/>
            <a:ext cx="20116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Shape 15"/>
          <p:cNvSpPr/>
          <p:nvPr/>
        </p:nvSpPr>
        <p:spPr>
          <a:xfrm>
            <a:off x="6986016" y="1005840"/>
            <a:ext cx="2011680" cy="73152"/>
          </a:xfrm>
          <a:prstGeom prst="rect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6986016" y="1188720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986016" y="182880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Caractéristiques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géométriques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468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6 dimensions géométriques utilisées :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2871216"/>
            <a:ext cx="201168" cy="201168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731520" y="28346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diagonal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77440" y="28346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Diagonale du billet (mm)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3218688"/>
            <a:ext cx="201168" cy="201168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731520" y="318211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height_left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377440" y="31821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Hauteur côté gauche (mm)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566160"/>
            <a:ext cx="201168" cy="201168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731520" y="352958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height_right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2377440" y="352958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Hauteur côté droit (mm)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00600" y="2871216"/>
            <a:ext cx="201168" cy="201168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5074920" y="28346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margin_low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720840" y="283464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inférieure (mm)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800600" y="3218688"/>
            <a:ext cx="201168" cy="201168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5074920" y="3182112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margin_up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720840" y="318211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supérieure (mm)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800600" y="3566160"/>
            <a:ext cx="201168" cy="201168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Text 35"/>
          <p:cNvSpPr/>
          <p:nvPr/>
        </p:nvSpPr>
        <p:spPr>
          <a:xfrm>
            <a:off x="5074920" y="3529584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720840" y="352958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Longueur du billet (mm)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Répartition des billets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713232"/>
            <a:ext cx="164592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914400"/>
            <a:ext cx="4114800" cy="3840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0" y="1097280"/>
            <a:ext cx="411480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4754880" y="1188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Vrais</a:t>
            </a:r>
            <a:r>
              <a:rPr lang="en-US" sz="15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billets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4754880" y="150876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1 000 billets (66.7%)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géométriques conformes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aux spécifications officielles.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0" y="2834640"/>
            <a:ext cx="411480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4754880" y="2926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Faux billets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754880" y="3246120"/>
            <a:ext cx="37490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billets (33.3%)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Différences subtiles dans les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— invisibles à l'œil nu.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des caractéristiques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576072"/>
            <a:ext cx="164592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histogrammes révèlent une séparation claire sur margin_low, length et margin_up</a:t>
            </a:r>
            <a:endParaRPr lang="en-US" sz="1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960120"/>
            <a:ext cx="8961120" cy="3886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les plus discriminantes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576072"/>
            <a:ext cx="164592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 vs margin_low et margin_up vs height_left montrent une séparation visuelle nette</a:t>
            </a:r>
            <a:endParaRPr lang="en-US" sz="1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05840"/>
            <a:ext cx="8778240" cy="3474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45920"/>
            <a:ext cx="54864" cy="109728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des données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2514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Traitement des valeurs manquantes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2743200" cy="1645920"/>
          </a:xfrm>
          <a:prstGeom prst="rect">
            <a:avLst/>
          </a:prstGeom>
          <a:solidFill>
            <a:srgbClr val="162D4F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640080" y="31089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Problème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4290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valeurs manquantes sur margin_low (2.47% du dataset)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91840" y="3566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840480" y="3017520"/>
            <a:ext cx="2743200" cy="1645920"/>
          </a:xfrm>
          <a:prstGeom prst="rect">
            <a:avLst/>
          </a:prstGeom>
          <a:solidFill>
            <a:srgbClr val="162D4F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023360" y="31089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Méthode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023360" y="342900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Imputation par médiane par groupe (is_genuine)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675120" y="3017520"/>
            <a:ext cx="2011680" cy="1645920"/>
          </a:xfrm>
          <a:prstGeom prst="rect">
            <a:avLst/>
          </a:prstGeom>
          <a:solidFill>
            <a:srgbClr val="162D4F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6766560" y="31089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766560" y="3429000"/>
            <a:ext cx="18288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100% complet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valeurs manquantes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200400"/>
            <a:ext cx="3200400" cy="3200400"/>
          </a:xfrm>
          <a:prstGeom prst="ellipse">
            <a:avLst/>
          </a:prstGeom>
          <a:solidFill>
            <a:srgbClr val="00B4D8">
              <a:alpha val="1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7772400" y="-457200"/>
            <a:ext cx="2286000" cy="2286000"/>
          </a:xfrm>
          <a:prstGeom prst="ellipse">
            <a:avLst/>
          </a:prstGeom>
          <a:solidFill>
            <a:srgbClr val="00B4D8">
              <a:alpha val="1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Modélisation</a:t>
            </a:r>
            <a:endParaRPr lang="en-US" sz="5200" dirty="0"/>
          </a:p>
        </p:txBody>
      </p:sp>
      <p:sp>
        <p:nvSpPr>
          <p:cNvPr id="5" name="Shape 3"/>
          <p:cNvSpPr/>
          <p:nvPr/>
        </p:nvSpPr>
        <p:spPr>
          <a:xfrm>
            <a:off x="548640" y="2926080"/>
            <a:ext cx="2743200" cy="457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algorithmes testés et comparés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657600"/>
            <a:ext cx="1965960" cy="1005840"/>
          </a:xfrm>
          <a:prstGeom prst="rect">
            <a:avLst/>
          </a:prstGeom>
          <a:solidFill>
            <a:srgbClr val="3498DB">
              <a:alpha val="85000"/>
            </a:srgbClr>
          </a:solidFill>
          <a:ln w="1905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548640" y="365760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Logistique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724912" y="3657600"/>
            <a:ext cx="1965960" cy="1005840"/>
          </a:xfrm>
          <a:prstGeom prst="rect">
            <a:avLst/>
          </a:prstGeom>
          <a:solidFill>
            <a:srgbClr val="9B59B6">
              <a:alpha val="85000"/>
            </a:srgbClr>
          </a:solidFill>
          <a:ln w="1905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2724912" y="365760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901184" y="3657600"/>
            <a:ext cx="1965960" cy="1005840"/>
          </a:xfrm>
          <a:prstGeom prst="rect">
            <a:avLst/>
          </a:prstGeom>
          <a:solidFill>
            <a:srgbClr val="E67E22">
              <a:alpha val="85000"/>
            </a:srgbClr>
          </a:solidFill>
          <a:ln w="1905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901184" y="365760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KNN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077456" y="3657600"/>
            <a:ext cx="1965960" cy="1005840"/>
          </a:xfrm>
          <a:prstGeom prst="rect">
            <a:avLst/>
          </a:prstGeom>
          <a:solidFill>
            <a:srgbClr val="2ECC71">
              <a:alpha val="85000"/>
            </a:srgbClr>
          </a:solidFill>
          <a:ln w="1905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7077456" y="3657600"/>
            <a:ext cx="1965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 Logistique — Meilleur modèle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1645920" cy="36576"/>
          </a:xfrm>
          <a:prstGeom prst="rect">
            <a:avLst/>
          </a:prstGeom>
          <a:solidFill>
            <a:srgbClr val="3498DB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640080" y="8961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Séparation</a:t>
            </a: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Train/Test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207008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entraînement (1 050 billets)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test (450 billets)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Stratification preservée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822960"/>
            <a:ext cx="4023360" cy="1463040"/>
          </a:xfrm>
          <a:prstGeom prst="rect">
            <a:avLst/>
          </a:prstGeom>
          <a:solidFill>
            <a:srgbClr val="FFFFFF"/>
          </a:solidFill>
          <a:ln w="19050">
            <a:solidFill>
              <a:srgbClr val="3498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846320" y="8961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3498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46320" y="1207008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: 99.33%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 (Faux) : 0.99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FP + 2 FN sur 450 billets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8229600" cy="1097280"/>
          </a:xfrm>
          <a:prstGeom prst="rect">
            <a:avLst/>
          </a:prstGeom>
          <a:solidFill>
            <a:srgbClr val="E8F5E9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40080" y="2542032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Pourquoi la régression logistique 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2816352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Meilleure accuracy (99.33%) · Probabilités fiables · Très rapide · Interprétable via ses coefficients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70332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de probabilités de prévision :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977640"/>
          <a:ext cx="8229600" cy="975360"/>
        </p:xfrm>
        <a:graphic>
          <a:graphicData uri="http://schemas.openxmlformats.org/drawingml/2006/table">
            <a:tbl>
              <a:tblPr/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P(Faux)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P(Vrai)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Prédit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98D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98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VRAI ✓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FAUX 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FAUX 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K-Nearest Neighbors (KNN)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1645920" cy="36576"/>
          </a:xfrm>
          <a:prstGeom prst="rect">
            <a:avLst/>
          </a:prstGeom>
          <a:solidFill>
            <a:srgbClr val="9B59B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40233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23444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KNN classifie un billet en regardant ses k=5 plus proches voisins dans l'espace des caractéristiques. La classe majority vote détermine la prédiction.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663440" y="822960"/>
            <a:ext cx="40233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8463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846320" y="123444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: 98.67%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(Faux) : 98.65%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(Faux) : 97.33%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FP | 4 FN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57200" y="28346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de probabilités (KNN) :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08960"/>
          <a:ext cx="8229600" cy="1036320"/>
        </p:xfrm>
        <a:graphic>
          <a:graphicData uri="http://schemas.openxmlformats.org/drawingml/2006/table">
            <a:tbl>
              <a:tblPr/>
              <a:tblGrid>
                <a:gridCol w="2057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59B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P(Faux)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59B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P(Vrai)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59B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Prédit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B59B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Vrai billet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VRAI ✓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Faux billet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FAUX 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 limite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FAUX 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 9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KNN offre des probabilités plus graduées que la régression logistique, utiles pour les cas limites.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&amp; Importances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576072"/>
            <a:ext cx="1645920" cy="36576"/>
          </a:xfrm>
          <a:prstGeom prst="rect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34747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850392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133856"/>
            <a:ext cx="3108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arbres de décision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: 98.67%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FP | 3 FN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2331720"/>
            <a:ext cx="3474720" cy="1188720"/>
          </a:xfrm>
          <a:prstGeom prst="rect">
            <a:avLst/>
          </a:prstGeom>
          <a:solidFill>
            <a:srgbClr val="F1F8E9"/>
          </a:solidFill>
          <a:ln w="1270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548640" y="239572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clés (par importance)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679192"/>
            <a:ext cx="3108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margin_low  2. length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margin_up  4. height_left</a:t>
            </a:r>
            <a:endParaRPr lang="en-US" sz="115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777240"/>
            <a:ext cx="4937760" cy="27432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65760" y="3749040"/>
            <a:ext cx="84124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8F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48640" y="384048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variables margin_low et length sont de loin les plus discriminantes — elles permettent à elles seules de séparer la grande majorité des vrais et faux billets.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— Apprentissage non supervisé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1645920" cy="36576"/>
          </a:xfrm>
          <a:prstGeom prst="rect">
            <a:avLst/>
          </a:prstGeom>
          <a:solidFill>
            <a:srgbClr val="9B59B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457200" y="822960"/>
            <a:ext cx="4114800" cy="1463040"/>
          </a:xfrm>
          <a:prstGeom prst="rect">
            <a:avLst/>
          </a:prstGeom>
          <a:solidFill>
            <a:srgbClr val="162D4F"/>
          </a:solidFill>
          <a:ln w="12700">
            <a:solidFill>
              <a:srgbClr val="9B59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640080" y="91440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Méthode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207008"/>
            <a:ext cx="3749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avec k=2 clusters. Les centroïdes sont utilisés pour identifier quel cluster correspond aux vrais / faux billets sans utiliser les labels.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754880" y="822960"/>
            <a:ext cx="3931920" cy="1463040"/>
          </a:xfrm>
          <a:prstGeom prst="rect">
            <a:avLst/>
          </a:prstGeom>
          <a:solidFill>
            <a:srgbClr val="162D4F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937760" y="91440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937760" y="1207008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: 98.44%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FP | 4 FN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structure naturelle des données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 bien à la réalité</a:t>
            </a:r>
            <a:endParaRPr lang="en-US" sz="11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2468880"/>
            <a:ext cx="8595360" cy="22860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Matrices de confusion — Les 4 modèles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576072"/>
            <a:ext cx="164592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faux négatifs (FN) sont critiques : un faux billet non détecté est un échec de sécurité</a:t>
            </a:r>
            <a:endParaRPr lang="en-US" sz="1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1005840"/>
            <a:ext cx="8961120" cy="2103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3291840"/>
            <a:ext cx="40233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640080" y="33649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Faux Négatifs (FN)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3648456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Faux billets classifiés comme vrais.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sont les erreurs les plus dangereuses pour la sécurité monétaire.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3291840"/>
            <a:ext cx="402336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4846320" y="336499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39C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Faux Positifs (FP)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846320" y="3648456"/>
            <a:ext cx="3657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Vrais billets classifiés comme faux.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dangereux mais génèrent des rejets injustifiés.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des performances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502920"/>
            <a:ext cx="164592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640080"/>
            <a:ext cx="8961120" cy="3383280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06240"/>
          <a:ext cx="8229600" cy="129540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554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Modèle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62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54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3498D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Régression Logistique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🥇 #1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54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54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98.67%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54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K-Means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98.44%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3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de détection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621792"/>
            <a:ext cx="164592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4023360" cy="2011680"/>
          </a:xfrm>
          <a:prstGeom prst="rect">
            <a:avLst/>
          </a:prstGeom>
          <a:solidFill>
            <a:srgbClr val="162D4F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fichier CSV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325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script.py --fichier billets.csv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164592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automatique d'un fichier contenant plusieurs billets. Résultats sauvegardés dans un CSV de sortie avec les prédictions et niveaux de confiance.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914400"/>
            <a:ext cx="4023360" cy="2011680"/>
          </a:xfrm>
          <a:prstGeom prst="rect">
            <a:avLst/>
          </a:prstGeom>
          <a:solidFill>
            <a:srgbClr val="162D4F"/>
          </a:solidFill>
          <a:ln w="19050">
            <a:solidFill>
              <a:srgbClr val="2ECC7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846320" y="10058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manuel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325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39C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script.py --manuel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846320" y="164592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Saisie interactive des 6 dimensions géométriques d'un billet. Le script retourne immédiatement le résultat avec un niveau de confiance.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1089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Exemple de sortie :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6778771"/>
              </p:ext>
            </p:extLst>
          </p:nvPr>
        </p:nvGraphicFramePr>
        <p:xfrm>
          <a:off x="274320" y="3383280"/>
          <a:ext cx="8412480" cy="960120"/>
        </p:xfrm>
        <a:graphic>
          <a:graphicData uri="http://schemas.openxmlformats.org/drawingml/2006/table">
            <a:tbl>
              <a:tblPr/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400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C8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C8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height_left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C8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height_right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C8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margin_low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C8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margin_up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C8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length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C8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Résultat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C8D8E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171.81</a:t>
                      </a:r>
                      <a:endParaRPr lang="en-US" sz="900" dirty="0">
                        <a:solidFill>
                          <a:schemeClr val="bg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104.86</a:t>
                      </a:r>
                      <a:endParaRPr lang="en-US" sz="900" dirty="0">
                        <a:solidFill>
                          <a:schemeClr val="bg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104.95</a:t>
                      </a:r>
                      <a:endParaRPr lang="en-US" sz="900" dirty="0">
                        <a:solidFill>
                          <a:schemeClr val="bg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4.52</a:t>
                      </a:r>
                      <a:endParaRPr lang="en-US" sz="900" dirty="0">
                        <a:solidFill>
                          <a:schemeClr val="bg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2.89</a:t>
                      </a:r>
                      <a:endParaRPr lang="en-US" sz="900" dirty="0">
                        <a:solidFill>
                          <a:schemeClr val="bg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112.83</a:t>
                      </a:r>
                      <a:endParaRPr lang="en-US" sz="900" dirty="0">
                        <a:solidFill>
                          <a:schemeClr val="bg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92D0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VRAI</a:t>
                      </a:r>
                      <a:r>
                        <a:rPr lang="en-US" sz="9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900" dirty="0">
                        <a:solidFill>
                          <a:schemeClr val="bg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67.54%</a:t>
                      </a:r>
                      <a:endParaRPr lang="en-US" sz="900" dirty="0">
                        <a:solidFill>
                          <a:schemeClr val="bg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172.10</a:t>
                      </a:r>
                      <a:endParaRPr lang="en-US" sz="900" dirty="0">
                        <a:solidFill>
                          <a:schemeClr val="bg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104.20</a:t>
                      </a:r>
                      <a:endParaRPr lang="en-US" sz="900" dirty="0">
                        <a:solidFill>
                          <a:schemeClr val="bg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104.15</a:t>
                      </a:r>
                      <a:endParaRPr lang="en-US" sz="900" dirty="0">
                        <a:solidFill>
                          <a:schemeClr val="bg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5.20</a:t>
                      </a:r>
                      <a:endParaRPr lang="en-US" sz="900" dirty="0">
                        <a:solidFill>
                          <a:schemeClr val="bg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3.35</a:t>
                      </a:r>
                      <a:endParaRPr lang="en-US" sz="900" dirty="0">
                        <a:solidFill>
                          <a:schemeClr val="bg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111.60</a:t>
                      </a:r>
                      <a:endParaRPr lang="en-US" sz="900" dirty="0">
                        <a:solidFill>
                          <a:schemeClr val="bg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FAUX</a:t>
                      </a:r>
                      <a:r>
                        <a:rPr lang="en-US" sz="9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900" dirty="0">
                        <a:solidFill>
                          <a:schemeClr val="bg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99.96%</a:t>
                      </a:r>
                      <a:endParaRPr lang="en-US" sz="900" dirty="0">
                        <a:solidFill>
                          <a:schemeClr val="bg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003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170.50</a:t>
                      </a:r>
                      <a:endParaRPr lang="en-US" sz="900" dirty="0">
                        <a:solidFill>
                          <a:schemeClr val="bg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104.50</a:t>
                      </a:r>
                      <a:endParaRPr lang="en-US" sz="900" dirty="0">
                        <a:solidFill>
                          <a:schemeClr val="bg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104.40</a:t>
                      </a:r>
                      <a:endParaRPr lang="en-US" sz="900" dirty="0">
                        <a:solidFill>
                          <a:schemeClr val="bg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</a:t>
                      </a:r>
                      <a:endParaRPr lang="en-US" sz="900" dirty="0">
                        <a:solidFill>
                          <a:schemeClr val="bg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3.40</a:t>
                      </a:r>
                      <a:endParaRPr lang="en-US" sz="900" dirty="0">
                        <a:solidFill>
                          <a:schemeClr val="bg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110.80</a:t>
                      </a:r>
                      <a:endParaRPr lang="en-US" sz="900" dirty="0">
                        <a:solidFill>
                          <a:schemeClr val="bg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FAUX</a:t>
                      </a:r>
                      <a:r>
                        <a:rPr lang="en-US" sz="900" b="1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endParaRPr lang="en-US" sz="900" dirty="0">
                        <a:solidFill>
                          <a:schemeClr val="bg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chemeClr val="bg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900" dirty="0">
                        <a:solidFill>
                          <a:schemeClr val="bg2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A6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Shape 11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18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détaillée — Boxplots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576072"/>
            <a:ext cx="1645920" cy="36576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65836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boxplots confirment les outliers et la séparation entre les deux classes sur margin_low et length</a:t>
            </a:r>
            <a:endParaRPr lang="en-US" sz="1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960120"/>
            <a:ext cx="8961120" cy="3886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8046720" y="4800600"/>
            <a:ext cx="822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18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3200400" cy="3200400"/>
          </a:xfrm>
          <a:prstGeom prst="ellipse">
            <a:avLst/>
          </a:prstGeom>
          <a:solidFill>
            <a:srgbClr val="00B4D8">
              <a:alpha val="1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7498080" y="3657600"/>
            <a:ext cx="2286000" cy="2286000"/>
          </a:xfrm>
          <a:prstGeom prst="ellipse">
            <a:avLst/>
          </a:prstGeom>
          <a:solidFill>
            <a:srgbClr val="00B4D8">
              <a:alpha val="1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548640" y="2286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749808"/>
            <a:ext cx="2286000" cy="4572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548640" y="1143000"/>
            <a:ext cx="411480" cy="411480"/>
          </a:xfrm>
          <a:prstGeom prst="ellipse">
            <a:avLst/>
          </a:prstGeom>
          <a:solidFill>
            <a:srgbClr val="2ECC7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48640" y="11430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43000" y="109728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4 modèles atteignent une accuracy &gt; 98% — les données géométriques sont très discriminantes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920240"/>
            <a:ext cx="411480" cy="411480"/>
          </a:xfrm>
          <a:prstGeom prst="ellipse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548640" y="19202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143000" y="187452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régression logistique est le meilleur modèle : 99.33% d'accuracy, seulement 3 erreurs sur 450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697480"/>
            <a:ext cx="411480" cy="411480"/>
          </a:xfrm>
          <a:prstGeom prst="ellipse">
            <a:avLst/>
          </a:prstGeom>
          <a:solidFill>
            <a:srgbClr val="F39C12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548640" y="26974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43000" y="265176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margin_low et length sont les caractéristiques les plus importantes pour la détection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474720"/>
            <a:ext cx="411480" cy="411480"/>
          </a:xfrm>
          <a:prstGeom prst="ellipse">
            <a:avLst/>
          </a:prstGeom>
          <a:solidFill>
            <a:srgbClr val="9B59B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48640" y="3474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43000" y="3429000"/>
            <a:ext cx="7498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script est déployable en production — mode fichier CSV et mode manuel disponibles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297680"/>
            <a:ext cx="8046720" cy="502920"/>
          </a:xfrm>
          <a:prstGeom prst="rect">
            <a:avLst/>
          </a:prstGeom>
          <a:solidFill>
            <a:srgbClr val="00B4D8">
              <a:alpha val="2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548640" y="42976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 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0" y="4983480"/>
            <a:ext cx="914400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1028</Words>
  <Application>Microsoft Office PowerPoint</Application>
  <PresentationFormat>On-screen Show (16:9)</PresentationFormat>
  <Paragraphs>278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Détection automatique de faux billets - ONCFM</dc:title>
  <dc:subject>Projet 12 - Machine Learning</dc:subject>
  <dc:creator>Étudiant - Licence</dc:creator>
  <cp:lastModifiedBy>lucien nzeutom</cp:lastModifiedBy>
  <cp:revision>11</cp:revision>
  <dcterms:created xsi:type="dcterms:W3CDTF">2026-02-01T22:49:25Z</dcterms:created>
  <dcterms:modified xsi:type="dcterms:W3CDTF">2026-02-02T20:00:36Z</dcterms:modified>
</cp:coreProperties>
</file>