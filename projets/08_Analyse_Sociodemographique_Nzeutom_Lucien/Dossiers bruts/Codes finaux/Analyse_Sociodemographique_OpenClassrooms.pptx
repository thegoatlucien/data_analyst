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1696</c:v>
                </c:pt>
                <c:pt idx="1">
                  <c:v>1150</c:v>
                </c:pt>
                <c:pt idx="2">
                  <c:v>850</c:v>
                </c:pt>
                <c:pt idx="3">
                  <c:v>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1E-4EDE-BA1F-19D6956281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Hommes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40.57</c:v>
                </c:pt>
                <c:pt idx="1">
                  <c:v>44.61</c:v>
                </c:pt>
                <c:pt idx="2">
                  <c:v>64.349999999999994</c:v>
                </c:pt>
                <c:pt idx="3">
                  <c:v>62.67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2C-4D86-B326-75B6BC3C0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Femmes</c:v>
                </c:pt>
              </c:strCache>
            </c:strRef>
          </c:tx>
          <c:spPr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17.809999999999999</c:v>
                </c:pt>
                <c:pt idx="1">
                  <c:v>21.48</c:v>
                </c:pt>
                <c:pt idx="2">
                  <c:v>25.53</c:v>
                </c:pt>
                <c:pt idx="3">
                  <c:v>30.6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E2C-4D86-B326-75B6BC3C0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 renseigné</c:v>
                </c:pt>
              </c:strCache>
            </c:strRef>
          </c:tx>
          <c:spPr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41.63</c:v>
                </c:pt>
                <c:pt idx="1">
                  <c:v>33.909999999999997</c:v>
                </c:pt>
                <c:pt idx="2">
                  <c:v>10.119999999999999</c:v>
                </c:pt>
                <c:pt idx="3">
                  <c:v>6.73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E2C-4D86-B326-75B6BC3C0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  <c:pt idx="5">
                  <c:v>Hauts-de-France</c:v>
                </c:pt>
                <c:pt idx="6">
                  <c:v>Grand Est</c:v>
                </c:pt>
                <c:pt idx="7">
                  <c:v>Pays de la Loire</c:v>
                </c:pt>
                <c:pt idx="8">
                  <c:v>Bretagne</c:v>
                </c:pt>
                <c:pt idx="9">
                  <c:v>Normandie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1450</c:v>
                </c:pt>
                <c:pt idx="1">
                  <c:v>580</c:v>
                </c:pt>
                <c:pt idx="2">
                  <c:v>420</c:v>
                </c:pt>
                <c:pt idx="3">
                  <c:v>380</c:v>
                </c:pt>
                <c:pt idx="4">
                  <c:v>350</c:v>
                </c:pt>
                <c:pt idx="5">
                  <c:v>310</c:v>
                </c:pt>
                <c:pt idx="6">
                  <c:v>280</c:v>
                </c:pt>
                <c:pt idx="7">
                  <c:v>250</c:v>
                </c:pt>
                <c:pt idx="8">
                  <c:v>220</c:v>
                </c:pt>
                <c:pt idx="9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8-4650-9475-213FC0F3EB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Étudiants par âge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25-29 ans</c:v>
                </c:pt>
                <c:pt idx="1">
                  <c:v>30-34 ans</c:v>
                </c:pt>
                <c:pt idx="2">
                  <c:v>35-39 ans</c:v>
                </c:pt>
                <c:pt idx="3">
                  <c:v>40-44 ans</c:v>
                </c:pt>
                <c:pt idx="4">
                  <c:v>45-49 ans</c:v>
                </c:pt>
                <c:pt idx="5">
                  <c:v>50-54 ans</c:v>
                </c:pt>
                <c:pt idx="6">
                  <c:v>55-59 ans</c:v>
                </c:pt>
                <c:pt idx="7">
                  <c:v>60 ans ou plus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1240</c:v>
                </c:pt>
                <c:pt idx="1">
                  <c:v>1380</c:v>
                </c:pt>
                <c:pt idx="2">
                  <c:v>820</c:v>
                </c:pt>
                <c:pt idx="3">
                  <c:v>560</c:v>
                </c:pt>
                <c:pt idx="4">
                  <c:v>340</c:v>
                </c:pt>
                <c:pt idx="5">
                  <c:v>210</c:v>
                </c:pt>
                <c:pt idx="6">
                  <c:v>70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2-49E9-8105-DBB74A412C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OpenClassrooms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48.4</c:v>
                </c:pt>
                <c:pt idx="1">
                  <c:v>49.2</c:v>
                </c:pt>
                <c:pt idx="2">
                  <c:v>48.5</c:v>
                </c:pt>
                <c:pt idx="3">
                  <c:v>48.8</c:v>
                </c:pt>
                <c:pt idx="4">
                  <c:v>47.9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11-4C50-9155-0C0283C948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 France (INSEE)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48.4</c:v>
                </c:pt>
                <c:pt idx="1">
                  <c:v>49.1</c:v>
                </c:pt>
                <c:pt idx="2">
                  <c:v>48.7</c:v>
                </c:pt>
                <c:pt idx="3">
                  <c:v>48.6</c:v>
                </c:pt>
                <c:pt idx="4">
                  <c:v>48.3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11-4C50-9155-0C0283C94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94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l'Évolution du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Sociodémographique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Étudiants Data d'OpenClassrooms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</a:rPr>
              <a:t>Période : 2022-2025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Contexte
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OpenClassrooms souhaite comprendre l'évolution du profil de ses étudiants inscrits aux parcours Data sur 4 ans (2022-2025).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73152" cy="3474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Objectifs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Analyser</a:t>
            </a:r>
            <a:r>
              <a:rPr lang="en-US" sz="1400" dirty="0">
                <a:solidFill>
                  <a:srgbClr val="1E293B"/>
                </a:solidFill>
              </a:rPr>
              <a:t> la répartition par âge, genre, </a:t>
            </a:r>
            <a:r>
              <a:rPr lang="en-US" sz="1400" dirty="0" err="1">
                <a:solidFill>
                  <a:srgbClr val="1E293B"/>
                </a:solidFill>
              </a:rPr>
              <a:t>région</a:t>
            </a:r>
            <a:r>
              <a:rPr lang="en-US" sz="1400" dirty="0">
                <a:solidFill>
                  <a:srgbClr val="1E293B"/>
                </a:solidFill>
              </a:rPr>
              <a:t>
 Mesurer </a:t>
            </a:r>
            <a:r>
              <a:rPr lang="en-US" sz="1400" dirty="0" err="1">
                <a:solidFill>
                  <a:srgbClr val="1E293B"/>
                </a:solidFill>
              </a:rPr>
              <a:t>l'évolution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temporelle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Comparer avec les données INSEE
Alimenter les </a:t>
            </a:r>
            <a:r>
              <a:rPr lang="en-US" sz="1400" dirty="0" err="1">
                <a:solidFill>
                  <a:srgbClr val="1E293B"/>
                </a:solidFill>
              </a:rPr>
              <a:t>réflexions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stratégiques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Collecte et de Traitement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Collecte des données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Extraction depuis les bases internes OpenClassrooms (période 2022-2025)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Import dans Snowflake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Chargement des données dans un entrepôt cloud sécurisé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Transformation avec dbt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Nettoyage, normalisation et agrégation des données via pipeline dbt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Enrichissement INSEE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Intégration de données démographiques publiques pour contextualisation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Snowflake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Entrepôt de données cloud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9202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dbt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Transformation &amp;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315200" y="1371600"/>
            <a:ext cx="2286000" cy="1097280"/>
          </a:xfrm>
          <a:prstGeom prst="rect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</a:rPr>
              <a:t>Tables analytiques finales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Pipeline dbt 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Staging : Nettoyage et normalisation des données brutes
Marts : Agrégations par année, région, âge
 Tests : Validation de la qualité des données (unicité, nullité, valeurs acceptables)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Pseudonymisation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USER_ID sont pseudonymisés et ne permettent pas d'identifier directement les étudiants.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Minimisation des données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Seules les données nécessaires à l'analyse sont collectées et conservées.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Agrégation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analyses portent sur des groupes, pas sur des individus identifiables.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Sécurité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Données stockées dans Snowflake avec contrôle d'accès et chiffrement.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97316"/>
                </a:solidFill>
              </a:rPr>
              <a:t>✓ Aucune donnée personnelle identifiable n'est exposée dans les livrables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Qualité des Données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Règles appliquées 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Normalisation</a:t>
            </a:r>
            <a:r>
              <a:rPr lang="en-US" sz="1400" dirty="0">
                <a:solidFill>
                  <a:srgbClr val="1E293B"/>
                </a:solidFill>
              </a:rPr>
              <a:t> des genres (M → Homme, F → Femme, vide → Non </a:t>
            </a:r>
            <a:r>
              <a:rPr lang="en-US" sz="1400" dirty="0" err="1">
                <a:solidFill>
                  <a:srgbClr val="1E293B"/>
                </a:solidFill>
              </a:rPr>
              <a:t>renseigné</a:t>
            </a:r>
            <a:r>
              <a:rPr lang="en-US" sz="1400" dirty="0">
                <a:solidFill>
                  <a:srgbClr val="1E293B"/>
                </a:solidFill>
              </a:rPr>
              <a:t>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Filtrage</a:t>
            </a:r>
            <a:r>
              <a:rPr lang="en-US" sz="1400" dirty="0">
                <a:solidFill>
                  <a:srgbClr val="1E293B"/>
                </a:solidFill>
              </a:rPr>
              <a:t> des années valides (2022-2025)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Nettoyage</a:t>
            </a:r>
            <a:r>
              <a:rPr lang="en-US" sz="1400" dirty="0">
                <a:solidFill>
                  <a:srgbClr val="1E293B"/>
                </a:solidFill>
              </a:rPr>
              <a:t> des </a:t>
            </a:r>
            <a:r>
              <a:rPr lang="en-US" sz="1400" dirty="0" err="1">
                <a:solidFill>
                  <a:srgbClr val="1E293B"/>
                </a:solidFill>
              </a:rPr>
              <a:t>valeurs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textuelles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 Dédoublonnage des étudiants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Tests de qualité 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Unicité</a:t>
            </a:r>
            <a:r>
              <a:rPr lang="en-US" sz="1400" dirty="0">
                <a:solidFill>
                  <a:srgbClr val="1E293B"/>
                </a:solidFill>
              </a:rPr>
              <a:t> des USER_ID
Absence de valeurs nulles sur les champs clés
Validation des valeurs acceptables (années 2022-2025)
</a:t>
            </a:r>
            <a:r>
              <a:rPr lang="en-US" sz="1400" dirty="0" err="1">
                <a:solidFill>
                  <a:srgbClr val="1E293B"/>
                </a:solidFill>
              </a:rPr>
              <a:t>Cohérence</a:t>
            </a:r>
            <a:r>
              <a:rPr lang="en-US" sz="1400" dirty="0">
                <a:solidFill>
                  <a:srgbClr val="1E293B"/>
                </a:solidFill>
              </a:rPr>
              <a:t> des pourcentages (somme ≈ 100%)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Total : 4 647 étudiants analysés sur 4 ans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1 : Évolution du Nombre d'Étudiants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📉 Baisse significative entre 2022 et 2024 (-50%), suivie d'une légère reprise en 2025 (+12%)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2 : Évolution de la Répartition par Genre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📈Augmentation continue de la part des femmes (18% → 31%)
</a:t>
            </a: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📉 Forte amélioration de la qualité des données (non renseignés : 42% → 7%)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3 : Répartition Géographique (Top 10 Régions)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 err="1">
                <a:solidFill>
                  <a:srgbClr val="F97316"/>
                </a:solidFill>
              </a:rPr>
              <a:t>L'Île</a:t>
            </a:r>
            <a:r>
              <a:rPr lang="en-US" sz="1300" b="1" i="1" dirty="0">
                <a:solidFill>
                  <a:srgbClr val="F97316"/>
                </a:solidFill>
              </a:rPr>
              <a:t>-de-France représente ~31% des étudiants, suivie d'Auvergne-Rhône-Alpes (12%)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4 : Répartition par Tranche d'Âge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 Les 25-34 ans représentent 56% des étudiants - public cible principal de la reconversion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les Données INSEE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✓ La répartition géographique des étudiants OC suit les tendances démographiques nationales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Clés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📉 Baisse d'effectifs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Diminution de 50% entre 2022-2024, suivie d'une reprise partielle (+12%) en 2025.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👩 Féminisation croissante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La part des femmes progresse de 18% en 2022 à 31% en 2025 (+72% de hausse relative).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📊 Qualité des données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Amélioration spectaculaire : données non renseignées passent de 42% à 7%.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🗺️ Concentration géographique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Île-de-France concentre 31% des étudiants, aligné avec les tendances démographiques.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👥 Profil d'âge optimal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25-34 ans (56%) sont la cible principale - âge idéal pour la reconversion.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Biais Identifiés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Doublons dans les données sources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568 USER_ID en double détectés - traités par dédoublonnage en gardant la ligne la plus récente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Données </a:t>
            </a:r>
            <a:r>
              <a:rPr lang="en-US" sz="1600" b="1" dirty="0" err="1">
                <a:solidFill>
                  <a:srgbClr val="1E293B"/>
                </a:solidFill>
              </a:rPr>
              <a:t>manquantes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Fort taux de non-renseignement en 2022 (42%) - amélioration progressive jusqu'à 7% en 2025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Biais de </a:t>
            </a:r>
            <a:r>
              <a:rPr lang="en-US" sz="1600" b="1" dirty="0" err="1">
                <a:solidFill>
                  <a:srgbClr val="1E293B"/>
                </a:solidFill>
              </a:rPr>
              <a:t>sélection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Seuls les étudiants inscrits sont analysés - pas de données sur les abandons ou refus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 err="1">
                <a:solidFill>
                  <a:srgbClr val="1E293B"/>
                </a:solidFill>
              </a:rPr>
              <a:t>Période</a:t>
            </a:r>
            <a:r>
              <a:rPr lang="en-US" sz="1600" b="1" dirty="0">
                <a:solidFill>
                  <a:srgbClr val="1E293B"/>
                </a:solidFill>
              </a:rPr>
              <a:t> </a:t>
            </a:r>
            <a:r>
              <a:rPr lang="en-US" sz="1600" b="1" dirty="0" err="1">
                <a:solidFill>
                  <a:srgbClr val="1E293B"/>
                </a:solidFill>
              </a:rPr>
              <a:t>limitée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Analyse sur 4 ans seulement - tendances à confirmer sur une période plus longue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Renforcer l'attractivité féminine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Capitaliser sur la tendance positive (+72%) : témoignages, role models, communication ciblée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Développer la présence régionale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Réduire la concentration parisienne (31%) : partenariats locaux, événements régionaux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Améliorer la collecte de données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Maintenir la tendance d'amélioration : rendre obligatoires certains champs lors de l'inscription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Analyser la baisse d'effectifs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Étudier les causes de la baisse 2022-2024 : concurrence, prix, qualité perçue 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Une analyse rigoureuse et conforme RGPD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révélant des tendances encourageantes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(féminisation, qualité des données)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et des axes d'amélioration identifiés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(baisse d'effectifs, concentration géographique)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D9488"/>
                </a:solidFill>
              </a:rPr>
              <a:t>Merci de votre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790</Words>
  <Application>Microsoft Office PowerPoint</Application>
  <PresentationFormat>On-screen Show (16:9)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Sociodémographique - Étudiants Data OpenClassrooms</dc:title>
  <dc:subject>PptxGenJS Presentation</dc:subject>
  <dc:creator>Nzeutom Lucien</dc:creator>
  <cp:lastModifiedBy>lucien nzeutom</cp:lastModifiedBy>
  <cp:revision>6</cp:revision>
  <dcterms:created xsi:type="dcterms:W3CDTF">2026-01-29T23:06:45Z</dcterms:created>
  <dcterms:modified xsi:type="dcterms:W3CDTF">2026-01-29T23:23:56Z</dcterms:modified>
</cp:coreProperties>
</file>