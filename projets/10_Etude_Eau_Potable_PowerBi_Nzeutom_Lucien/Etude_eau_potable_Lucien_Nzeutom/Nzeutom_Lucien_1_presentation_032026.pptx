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8AABD3"/>
                </a:solidFill>
              </a:defRPr>
            </a:pPr>
            <a:r>
              <a:t>Accès à l'Eau Potable dans le Monde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754880"/>
            <a:ext cx="3657600" cy="457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Projet d'Analyse de Données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6459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4592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Contexte du projet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2402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4028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Sources de données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283464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4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Prétraitement des données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342900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27214"/>
            <a:ext cx="105137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Blueprint</a:t>
            </a:r>
            <a:endParaRPr dirty="0"/>
          </a:p>
        </p:txBody>
      </p:sp>
      <p:sp>
        <p:nvSpPr>
          <p:cNvPr id="17" name="Oval 16"/>
          <p:cNvSpPr/>
          <p:nvPr/>
        </p:nvSpPr>
        <p:spPr>
          <a:xfrm>
            <a:off x="1371600" y="40233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2336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Justification de l'outil Power BI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46177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6177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61772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Architecture du tableau de bord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52120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52120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12080"/>
            <a:ext cx="5943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Spécifications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1. CONTEXTE DU PROJET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Objectif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Créer un tableau de bord interactif pour analyser l'accès à l'eau potable dans 194 pays sur la période 2000-2018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Périmètre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Analyse à 3 niveaux : mondial, continental (6 régions) et national (194 pays)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Enjeu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69079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Identifier les pays prioritaires pour 3 domaines d'intervention : création de services, modernisation, et consulting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37759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493775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Public cible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57799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Organisations internationales, ONG, gouvernements et décideurs politiques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2. SOURCES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Pays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Années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Régions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Fichiers de données consolidés :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54787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Population (Total, Rural, Urban, Male, Female) - 20 914 lignes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91363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Stabilité politique par pays et année - 3 526 lignes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27939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Services d'eau potable (basique et gérés de manière sûre) - 10 476 lignes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64515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Taux de mortalité lié à l'eau insalubre - 549 lignes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01091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49377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Référentiel Région-Pays - 194 correspondances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PRÉTRAITEMENT DES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1480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rPr lang="en-US" dirty="0"/>
              <a:t>1- </a:t>
            </a:r>
            <a:r>
              <a:rPr dirty="0" err="1"/>
              <a:t>Nettoyage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Renommage des colonnes</a:t>
            </a:r>
            <a:br/>
            <a:r>
              <a:t>• Standardisation des noms de pays</a:t>
            </a:r>
            <a:br/>
            <a:r>
              <a:t>• Suppression caractères spéciaux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518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rPr lang="en-US" dirty="0"/>
              <a:t>2- </a:t>
            </a:r>
            <a:r>
              <a:rPr dirty="0"/>
              <a:t>Jointures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Table principale par jointure sur Country et Year</a:t>
            </a:r>
            <a:br/>
            <a:r>
              <a:t>• 5 tables sources consolidées</a:t>
            </a:r>
            <a:br/>
            <a:r>
              <a:t>• 4 430 lignes finales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79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9316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rPr lang="en-US" dirty="0"/>
              <a:t>3- </a:t>
            </a:r>
            <a:r>
              <a:rPr dirty="0" err="1"/>
              <a:t>Filtrage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7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Sélection granularité 'Total'</a:t>
            </a:r>
            <a:br/>
            <a:r>
              <a:t>• Exclusion des valeurs manquantes critiques</a:t>
            </a:r>
            <a:br/>
            <a:r>
              <a:t>• Validation des périodes temporelles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280160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1417320"/>
            <a:ext cx="14686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rPr lang="en-US" dirty="0"/>
              <a:t>4-</a:t>
            </a:r>
            <a:r>
              <a:rPr dirty="0"/>
              <a:t>Enrichissement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Calcul des % urbain/rural</a:t>
            </a:r>
            <a:br/>
            <a:r>
              <a:t>• Ajout dimension Région</a:t>
            </a:r>
            <a:br/>
            <a:r>
              <a:t>• Création champs pour 3 domaines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017520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3154680"/>
            <a:ext cx="11384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rPr lang="en-US" dirty="0"/>
              <a:t>5-</a:t>
            </a:r>
            <a:r>
              <a:rPr dirty="0"/>
              <a:t>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Vérification cohérence des données</a:t>
            </a:r>
            <a:br/>
            <a:r>
              <a:t>• Contrôle des doublons</a:t>
            </a:r>
            <a:br/>
            <a:r>
              <a:t>• Validation des jointures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754879"/>
            <a:ext cx="3840480" cy="14630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4892040"/>
            <a:ext cx="12394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rPr lang="en-US" dirty="0"/>
              <a:t>6-</a:t>
            </a:r>
            <a:r>
              <a:rPr dirty="0"/>
              <a:t>Export 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21207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</a:defRPr>
            </a:pPr>
            <a:r>
              <a:t>• 6 onglets structurés</a:t>
            </a:r>
            <a:br/>
            <a:r>
              <a:t>• Optimisé pour Power BI</a:t>
            </a:r>
            <a:br/>
            <a:r>
              <a:t>• Documentation intégrée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4. BLUEPRINT - </a:t>
            </a:r>
            <a:r>
              <a:rPr dirty="0" err="1"/>
              <a:t>Partie</a:t>
            </a:r>
            <a:r>
              <a:rPr dirty="0"/>
              <a:t>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C7293"/>
                </a:solidFill>
              </a:defRPr>
            </a:pPr>
            <a:r>
              <a:t>Mapping détaillé : Besoins utilisateurs → Mesures → Visualisations →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7230" y="1770077"/>
            <a:ext cx="7969540" cy="4356403"/>
          </a:xfrm>
          <a:prstGeom prst="roundRect">
            <a:avLst/>
          </a:prstGeom>
          <a:solidFill>
            <a:srgbClr val="FFFACD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2E54BE7-E1AD-A4F2-C603-385E26B9E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607863"/>
              </p:ext>
            </p:extLst>
          </p:nvPr>
        </p:nvGraphicFramePr>
        <p:xfrm>
          <a:off x="700481" y="2241957"/>
          <a:ext cx="7743037" cy="34126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2819">
                  <a:extLst>
                    <a:ext uri="{9D8B030D-6E8A-4147-A177-3AD203B41FA5}">
                      <a16:colId xmlns:a16="http://schemas.microsoft.com/office/drawing/2014/main" val="360609573"/>
                    </a:ext>
                  </a:extLst>
                </a:gridCol>
                <a:gridCol w="2077400">
                  <a:extLst>
                    <a:ext uri="{9D8B030D-6E8A-4147-A177-3AD203B41FA5}">
                      <a16:colId xmlns:a16="http://schemas.microsoft.com/office/drawing/2014/main" val="1063883492"/>
                    </a:ext>
                  </a:extLst>
                </a:gridCol>
                <a:gridCol w="1416409">
                  <a:extLst>
                    <a:ext uri="{9D8B030D-6E8A-4147-A177-3AD203B41FA5}">
                      <a16:colId xmlns:a16="http://schemas.microsoft.com/office/drawing/2014/main" val="4244070740"/>
                    </a:ext>
                  </a:extLst>
                </a:gridCol>
                <a:gridCol w="1416409">
                  <a:extLst>
                    <a:ext uri="{9D8B030D-6E8A-4147-A177-3AD203B41FA5}">
                      <a16:colId xmlns:a16="http://schemas.microsoft.com/office/drawing/2014/main" val="2813860525"/>
                    </a:ext>
                  </a:extLst>
                </a:gridCol>
              </a:tblGrid>
              <a:tr h="2329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Besoins</a:t>
                      </a:r>
                      <a:r>
                        <a:rPr lang="en-US" sz="1100" dirty="0">
                          <a:effectLst/>
                        </a:rPr>
                        <a:t> utilisateurs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Mesures spécifiques à utiliser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Visualisation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Page/Onglet/Vue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3846532"/>
                  </a:ext>
                </a:extLst>
              </a:tr>
              <a:tr h="8014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 dirty="0">
                          <a:effectLst/>
                        </a:rPr>
                        <a:t>Voir l'évolution de la population rurale vs population totale par pays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Population (Total)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Population (Rural)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Population (Urban)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Population Urbaine %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Line plot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+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Percent stacked bar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Nationale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1443847"/>
                  </a:ext>
                </a:extLst>
              </a:tr>
              <a:tr h="3941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Comprendre la stabilité politique dans le monde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 dirty="0">
                          <a:effectLst/>
                        </a:rPr>
                        <a:t>Stabilité Politique Moyenne</a:t>
                      </a:r>
                      <a:br>
                        <a:rPr lang="fr-FR" sz="900" dirty="0">
                          <a:effectLst/>
                        </a:rPr>
                      </a:br>
                      <a:r>
                        <a:rPr lang="fr-FR" sz="900" dirty="0">
                          <a:effectLst/>
                        </a:rPr>
                        <a:t>(agrégation par continent)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Carte du monde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(choroplèthe)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Mondiale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8358471"/>
                  </a:ext>
                </a:extLst>
              </a:tr>
              <a:tr h="5978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 dirty="0">
                          <a:effectLst/>
                        </a:rPr>
                        <a:t>Domaine 1 - Création de services :</a:t>
                      </a:r>
                      <a:br>
                        <a:rPr lang="fr-FR" sz="900" dirty="0">
                          <a:effectLst/>
                        </a:rPr>
                      </a:br>
                      <a:r>
                        <a:rPr lang="fr-FR" sz="900" dirty="0">
                          <a:effectLst/>
                        </a:rPr>
                        <a:t>Identifier les pays nécessitant de nouvelles infrastructures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Accès Eau Basique Moyen (%)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Population Urbaine (%)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Scatter plot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(nuage de points)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Nationale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0428870"/>
                  </a:ext>
                </a:extLst>
              </a:tr>
              <a:tr h="3941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 dirty="0">
                          <a:effectLst/>
                        </a:rPr>
                        <a:t>Domaine 2 - Modernisation :</a:t>
                      </a:r>
                      <a:br>
                        <a:rPr lang="fr-FR" sz="900" dirty="0">
                          <a:effectLst/>
                        </a:rPr>
                      </a:br>
                      <a:r>
                        <a:rPr lang="fr-FR" sz="900" dirty="0">
                          <a:effectLst/>
                        </a:rPr>
                        <a:t>Repérer les pays avec infrastructures à améliorer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Accès Eau Basique Moyen (%)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Accès Eau Gérée Moyen (%)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Scatter plot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(nuage de points)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Nationale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4672632"/>
                  </a:ext>
                </a:extLst>
              </a:tr>
              <a:tr h="5978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Domaine 3 - Consulting :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Trouver les pays stables pour le conseil gouvernemental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 dirty="0">
                          <a:effectLst/>
                        </a:rPr>
                        <a:t>Efficacité Politique</a:t>
                      </a:r>
                      <a:br>
                        <a:rPr lang="fr-FR" sz="900" dirty="0">
                          <a:effectLst/>
                        </a:rPr>
                      </a:br>
                      <a:r>
                        <a:rPr lang="fr-FR" sz="900" dirty="0">
                          <a:effectLst/>
                        </a:rPr>
                        <a:t>(calculée : (100-Mortalité) × Accès/100)</a:t>
                      </a:r>
                      <a:br>
                        <a:rPr lang="fr-FR" sz="900" dirty="0">
                          <a:effectLst/>
                        </a:rPr>
                      </a:br>
                      <a:r>
                        <a:rPr lang="fr-FR" sz="900" dirty="0">
                          <a:effectLst/>
                        </a:rPr>
                        <a:t>Stabilité Politique Moyenne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Scatter plot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(nuage de points)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Nationale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47546"/>
                  </a:ext>
                </a:extLst>
              </a:tr>
              <a:tr h="3941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 dirty="0">
                          <a:effectLst/>
                        </a:rPr>
                        <a:t>Voir le nombre de décès liés à l'eau insalubre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Taux Mortalité Moyen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WASH Deaths (Total)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Cartes KPI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(grands chiffres)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Vue Mondiale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07471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BLUEPRINT - Partie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C7293"/>
                </a:solidFill>
              </a:defRPr>
            </a:pPr>
            <a:r>
              <a:t>Suite du Blueprint : Filtres et fonctionnalités avancées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673" y="2044396"/>
            <a:ext cx="8053432" cy="3341335"/>
          </a:xfrm>
          <a:prstGeom prst="roundRect">
            <a:avLst/>
          </a:prstGeom>
          <a:solidFill>
            <a:srgbClr val="FFFACD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52C60E-8C41-95A2-ED96-EC61F7FFC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891312"/>
              </p:ext>
            </p:extLst>
          </p:nvPr>
        </p:nvGraphicFramePr>
        <p:xfrm>
          <a:off x="822960" y="2245487"/>
          <a:ext cx="7498080" cy="29156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7679960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15472485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3709275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995228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Comparer l'accès à l'eau entre pays d'un continent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 dirty="0">
                          <a:effectLst/>
                        </a:rPr>
                        <a:t>Accès Eau Basique Moyen (%)</a:t>
                      </a:r>
                      <a:br>
                        <a:rPr lang="fr-FR" sz="900" dirty="0">
                          <a:effectLst/>
                        </a:rPr>
                      </a:br>
                      <a:r>
                        <a:rPr lang="fr-FR" sz="900" dirty="0">
                          <a:effectLst/>
                        </a:rPr>
                        <a:t>Accès Eau Gérée Moyen (%)</a:t>
                      </a:r>
                      <a:br>
                        <a:rPr lang="fr-FR" sz="900" dirty="0">
                          <a:effectLst/>
                        </a:rPr>
                      </a:br>
                      <a:r>
                        <a:rPr lang="fr-FR" sz="900" dirty="0">
                          <a:effectLst/>
                        </a:rPr>
                        <a:t>par Country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Grouped bar plot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(barres groupées)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Continentale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9559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Voir l'évolution temporelle de la mortalité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Taux Mortalité Moyen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par Year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Line plot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(courbe)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Continentale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9363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Analyser la relation entre accès à l'eau et mortalité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Accès Eau Basique Moyen (%)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Taux Mortalité Moyen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par Country (bulles)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Scatter plot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Continentale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0380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Visualiser l'urbanisation par pays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Population Urbaine %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Population Rurale %</a:t>
                      </a:r>
                      <a:br>
                        <a:rPr lang="fr-FR" sz="900">
                          <a:effectLst/>
                        </a:rPr>
                      </a:br>
                      <a:r>
                        <a:rPr lang="fr-FR" sz="900">
                          <a:effectLst/>
                        </a:rPr>
                        <a:t>par Country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Stacked bar plot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(barres empilées)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Continentale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3246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900">
                          <a:effectLst/>
                        </a:rPr>
                        <a:t>Filtrer les pays instables politiquement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Political_Stability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(curseur)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Filtre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(slider quantitatif)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Toutes les vues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563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Sélectionner une période temporelle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Year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(2000-2018)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Filtre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(slicer temporel)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Toutes les vues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3051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Sélectionner un continent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Region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(catégoriel)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Slicer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(liste ou tiles)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Vue Continentale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3043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Sélectionner un pays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Country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(catégoriel)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Slicer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(dropdown)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Vue Nationale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8399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JUSTIFICATION : POURQUOI POWER BI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Power BI s'impose comme l'outil optimal pour ce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rPr dirty="0" err="1"/>
              <a:t>Visualisations</a:t>
            </a:r>
            <a:br>
              <a:rPr dirty="0"/>
            </a:br>
            <a:r>
              <a:rPr dirty="0"/>
              <a:t>Interactives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Filtres dynamiques, drill-down intuitif, interactivité 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01168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rPr dirty="0"/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Gestion optimale de milliers de lignes de données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43029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rPr dirty="0"/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Personnalisation avancée, thèmes cohérents, accessibilité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3192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34339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rPr dirty="0"/>
              <a:t>DAX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rPr dirty="0" err="1"/>
              <a:t>Langage</a:t>
            </a:r>
            <a:r>
              <a:rPr dirty="0"/>
              <a:t> de </a:t>
            </a:r>
            <a:r>
              <a:rPr dirty="0" err="1"/>
              <a:t>formules</a:t>
            </a:r>
            <a:r>
              <a:rPr dirty="0"/>
              <a:t> puissant pour </a:t>
            </a:r>
            <a:r>
              <a:rPr dirty="0" err="1"/>
              <a:t>mesures</a:t>
            </a:r>
            <a:r>
              <a:rPr dirty="0"/>
              <a:t> </a:t>
            </a:r>
            <a:r>
              <a:rPr dirty="0" err="1"/>
              <a:t>calculées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3657600" y="393192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0" y="429851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rPr dirty="0" err="1"/>
              <a:t>Géospatial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3840480" y="4983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Cartes interactives natives pour visualisation mondiale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2286000" cy="16459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8AA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29851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rPr dirty="0" err="1"/>
              <a:t>Actualisation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583680" y="4983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Mise à jour automatique des données, partage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6. ARCHITECTURE DU TABLEAU DE BORD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7315200" cy="13716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18726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VUE MONDIALE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AABD3"/>
                </a:solidFill>
              </a:defRPr>
            </a:pPr>
            <a:r>
              <a:t>Agrégation globale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Carte du monde (stabilité politique)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Évolution population mondiale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KPIs clés (mortalité, accès eau)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7315200" cy="13716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154679"/>
            <a:ext cx="23155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VUE CONTINENTALE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AABD3"/>
                </a:solidFill>
              </a:defRPr>
            </a:pPr>
            <a:r>
              <a:t>Sélection par région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46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Comparaison pays (bar charts)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Évolution temporelle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Scatter plots (accès vs mortalité)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63440"/>
            <a:ext cx="7315200" cy="13716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19367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VUE NATIONALE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AABD3"/>
                </a:solidFill>
              </a:defRPr>
            </a:pPr>
            <a:r>
              <a:t>Détail par pays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892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3 domaines d'expertise (scatter plots)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Rural vs Urbain (évolution)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Séries temporelles détaillées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SPÉCIFICATIONS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23839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rPr dirty="0" err="1"/>
              <a:t>Visualisations</a:t>
            </a:r>
            <a:r>
              <a:rPr dirty="0"/>
              <a:t> (5 types)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23711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/>
              <a:t>Line plot (</a:t>
            </a:r>
            <a:r>
              <a:rPr dirty="0" err="1"/>
              <a:t>évolutions</a:t>
            </a:r>
            <a:r>
              <a:rPr dirty="0"/>
              <a:t> </a:t>
            </a:r>
            <a:r>
              <a:rPr dirty="0" err="1"/>
              <a:t>temporelles</a:t>
            </a:r>
            <a:r>
              <a:rPr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6228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/>
              <a:t>Scatter plot (</a:t>
            </a:r>
            <a:r>
              <a:rPr dirty="0" err="1"/>
              <a:t>corrélations</a:t>
            </a:r>
            <a:r>
              <a:rPr dirty="0"/>
              <a:t>, 3 </a:t>
            </a:r>
            <a:r>
              <a:rPr dirty="0" err="1"/>
              <a:t>domaines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25895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/>
              <a:t>Grouped bar plot (</a:t>
            </a:r>
            <a:r>
              <a:rPr dirty="0" err="1"/>
              <a:t>comparaisons</a:t>
            </a:r>
            <a:r>
              <a:rPr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79"/>
            <a:ext cx="21578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/>
              <a:t>Stacked bar plot (compositions)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199"/>
            <a:ext cx="21278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/>
              <a:t>Carte </a:t>
            </a:r>
            <a:r>
              <a:rPr dirty="0" err="1"/>
              <a:t>géographique</a:t>
            </a:r>
            <a:r>
              <a:rPr dirty="0"/>
              <a:t> (</a:t>
            </a:r>
            <a:r>
              <a:rPr dirty="0" err="1"/>
              <a:t>mondiale</a:t>
            </a:r>
            <a:r>
              <a:rPr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188720"/>
            <a:ext cx="20601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rPr dirty="0" err="1"/>
              <a:t>Filtres</a:t>
            </a:r>
            <a:r>
              <a:rPr dirty="0"/>
              <a:t> (4 minimum)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45920"/>
            <a:ext cx="20728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 err="1"/>
              <a:t>Quantitatif</a:t>
            </a:r>
            <a:r>
              <a:rPr dirty="0"/>
              <a:t> : </a:t>
            </a:r>
            <a:r>
              <a:rPr dirty="0" err="1"/>
              <a:t>Stabilité</a:t>
            </a:r>
            <a:r>
              <a:rPr dirty="0"/>
              <a:t> politique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20240"/>
            <a:ext cx="16570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 err="1"/>
              <a:t>Qualitatif</a:t>
            </a:r>
            <a:r>
              <a:rPr dirty="0"/>
              <a:t> : </a:t>
            </a:r>
            <a:r>
              <a:rPr dirty="0" err="1"/>
              <a:t>Région</a:t>
            </a:r>
            <a:r>
              <a:rPr dirty="0"/>
              <a:t>, Pays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94560"/>
            <a:ext cx="20909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 err="1"/>
              <a:t>Temporel</a:t>
            </a:r>
            <a:r>
              <a:rPr dirty="0"/>
              <a:t> : Année (2000-2018)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68879"/>
            <a:ext cx="222528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rPr dirty="0" err="1"/>
              <a:t>Géographique</a:t>
            </a:r>
            <a:r>
              <a:rPr dirty="0"/>
              <a:t> : Carte 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25843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rPr dirty="0" err="1"/>
              <a:t>Fonctionnalités</a:t>
            </a:r>
            <a:r>
              <a:rPr dirty="0"/>
              <a:t> </a:t>
            </a:r>
            <a:r>
              <a:rPr dirty="0" err="1"/>
              <a:t>avancées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• Champs calculés DAX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862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rPr dirty="0"/>
              <a:t>8 </a:t>
            </a:r>
            <a:r>
              <a:rPr dirty="0" err="1"/>
              <a:t>mesures</a:t>
            </a:r>
            <a:r>
              <a:rPr dirty="0"/>
              <a:t> </a:t>
            </a:r>
            <a:r>
              <a:rPr dirty="0" err="1"/>
              <a:t>personnalisées</a:t>
            </a:r>
            <a:r>
              <a:rPr dirty="0"/>
              <a:t> (</a:t>
            </a:r>
            <a:r>
              <a:rPr dirty="0" err="1"/>
              <a:t>moyennes</a:t>
            </a:r>
            <a:r>
              <a:rPr dirty="0"/>
              <a:t>, </a:t>
            </a:r>
            <a:r>
              <a:rPr dirty="0" err="1"/>
              <a:t>efficacité</a:t>
            </a:r>
            <a:r>
              <a:rPr dirty="0"/>
              <a:t> politique, 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• Jointures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348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Consolidation de 5 tables sources sur Country et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79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• Agrégations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83479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Par niveau mondial, continental et national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19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• Accessibilité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32119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Contraste 4.5:1, police 10pt+, navigation clavier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TABLEAU DE BORD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ABD3"/>
                </a:solidFill>
              </a:defRPr>
            </a:pPr>
            <a:r>
              <a:rPr dirty="0"/>
              <a:t>3 </a:t>
            </a:r>
            <a:r>
              <a:rPr dirty="0" err="1"/>
              <a:t>vues</a:t>
            </a:r>
            <a:r>
              <a:rPr dirty="0"/>
              <a:t> interactives (</a:t>
            </a:r>
            <a:r>
              <a:rPr dirty="0" err="1"/>
              <a:t>mondiale</a:t>
            </a:r>
            <a:r>
              <a:rPr dirty="0"/>
              <a:t>, </a:t>
            </a:r>
            <a:r>
              <a:rPr dirty="0" err="1"/>
              <a:t>continentale</a:t>
            </a:r>
            <a:r>
              <a:rPr dirty="0"/>
              <a:t>, </a:t>
            </a:r>
            <a:r>
              <a:rPr dirty="0" err="1"/>
              <a:t>nationale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9954" y="3383280"/>
            <a:ext cx="46440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ABD3"/>
                </a:solidFill>
              </a:defRPr>
            </a:pPr>
            <a:r>
              <a:rPr dirty="0"/>
              <a:t> </a:t>
            </a:r>
            <a:r>
              <a:rPr dirty="0" err="1"/>
              <a:t>Analyse</a:t>
            </a:r>
            <a:r>
              <a:rPr dirty="0"/>
              <a:t> sur 194 pays et 19 </a:t>
            </a:r>
            <a:r>
              <a:rPr dirty="0" err="1"/>
              <a:t>années</a:t>
            </a:r>
            <a:r>
              <a:rPr dirty="0"/>
              <a:t> (2000-2018)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9053" y="3840480"/>
            <a:ext cx="46658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ABD3"/>
                </a:solidFill>
              </a:defRPr>
            </a:pPr>
            <a:r>
              <a:rPr dirty="0"/>
              <a:t> Identification des pays </a:t>
            </a:r>
            <a:r>
              <a:rPr dirty="0" err="1"/>
              <a:t>prioritaires</a:t>
            </a:r>
            <a:r>
              <a:rPr dirty="0"/>
              <a:t> par </a:t>
            </a:r>
            <a:r>
              <a:rPr dirty="0" err="1"/>
              <a:t>domaine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614348" y="4297680"/>
            <a:ext cx="39153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ABD3"/>
                </a:solidFill>
              </a:defRPr>
            </a:pPr>
            <a:r>
              <a:rPr dirty="0"/>
              <a:t> </a:t>
            </a:r>
            <a:r>
              <a:rPr dirty="0" err="1"/>
              <a:t>Visualisations</a:t>
            </a:r>
            <a:r>
              <a:rPr dirty="0"/>
              <a:t> </a:t>
            </a:r>
            <a:r>
              <a:rPr dirty="0" err="1"/>
              <a:t>optimisées</a:t>
            </a:r>
            <a:r>
              <a:rPr dirty="0"/>
              <a:t> et </a:t>
            </a:r>
            <a:r>
              <a:rPr dirty="0" err="1"/>
              <a:t>accessibles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rPr dirty="0"/>
              <a:t>Un </a:t>
            </a:r>
            <a:r>
              <a:rPr dirty="0" err="1"/>
              <a:t>outil</a:t>
            </a:r>
            <a:r>
              <a:rPr dirty="0"/>
              <a:t> </a:t>
            </a:r>
            <a:r>
              <a:rPr dirty="0" err="1"/>
              <a:t>d'aide</a:t>
            </a:r>
            <a:r>
              <a:rPr dirty="0"/>
              <a:t> à la </a:t>
            </a:r>
            <a:r>
              <a:rPr dirty="0" err="1"/>
              <a:t>décision</a:t>
            </a:r>
            <a:r>
              <a:rPr dirty="0"/>
              <a:t> pour </a:t>
            </a:r>
            <a:r>
              <a:rPr dirty="0" err="1"/>
              <a:t>optimiser</a:t>
            </a:r>
            <a:br>
              <a:rPr dirty="0"/>
            </a:br>
            <a:r>
              <a:rPr dirty="0"/>
              <a:t>les interventions </a:t>
            </a:r>
            <a:r>
              <a:rPr dirty="0" err="1"/>
              <a:t>en</a:t>
            </a:r>
            <a:r>
              <a:rPr dirty="0"/>
              <a:t> matière </a:t>
            </a:r>
            <a:r>
              <a:rPr dirty="0" err="1"/>
              <a:t>d'accès</a:t>
            </a:r>
            <a:r>
              <a:rPr dirty="0"/>
              <a:t> à </a:t>
            </a:r>
            <a:r>
              <a:rPr dirty="0" err="1"/>
              <a:t>l'eau</a:t>
            </a:r>
            <a:r>
              <a:rPr dirty="0"/>
              <a:t> potable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6126480"/>
            <a:ext cx="36576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1045</Words>
  <Application>Microsoft Office PowerPoint</Application>
  <PresentationFormat>On-screen Show (4:3)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lucien nzeutom</cp:lastModifiedBy>
  <cp:revision>6</cp:revision>
  <dcterms:created xsi:type="dcterms:W3CDTF">2013-01-27T09:14:16Z</dcterms:created>
  <dcterms:modified xsi:type="dcterms:W3CDTF">2026-03-04T18:04:24Z</dcterms:modified>
  <cp:category/>
</cp:coreProperties>
</file>