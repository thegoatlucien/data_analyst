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2137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D2137"/>
                </a:solidFill>
                <a:latin typeface="Arial"/>
              </a:rPr>
              <a:t>% de variance expliquée par composante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Variance expliquée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1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F8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F8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7F8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PC1</c:v>
                  </c:pt>
                  <c:pt idx="1">
                    <c:v>PC2</c:v>
                  </c:pt>
                  <c:pt idx="2">
                    <c:v>PC3</c:v>
                  </c:pt>
                  <c:pt idx="3">
                    <c:v>PC4</c:v>
                  </c:pt>
                  <c:pt idx="4">
                    <c:v>PC5</c:v>
                  </c:pt>
                  <c:pt idx="5">
                    <c:v>PC6</c:v>
                  </c:pt>
                  <c:pt idx="6">
                    <c:v>PC7+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41.01</c:v>
                </c:pt>
                <c:pt idx="1">
                  <c:v>23.6</c:v>
                </c:pt>
                <c:pt idx="2">
                  <c:v>11.52</c:v>
                </c:pt>
                <c:pt idx="3">
                  <c:v>5.99</c:v>
                </c:pt>
                <c:pt idx="4">
                  <c:v>5.34</c:v>
                </c:pt>
                <c:pt idx="5">
                  <c:v>3.2</c:v>
                </c:pt>
                <c:pt idx="6">
                  <c:v>9.34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21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2137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D2137"/>
                </a:solidFill>
                <a:latin typeface="Arial"/>
              </a:rPr>
              <a:t>Score Silhouette – CAH vs KMeans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CAH (Ward)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</c:v>
                </c:pt>
                <c:pt idx="1">
                  <c:v>0.363</c:v>
                </c:pt>
                <c:pt idx="2">
                  <c:v>0.369</c:v>
                </c:pt>
                <c:pt idx="3">
                  <c:v>0.388</c:v>
                </c:pt>
                <c:pt idx="4">
                  <c:v>0.272</c:v>
                </c:pt>
                <c:pt idx="5">
                  <c:v>0.27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KMeans</c:v>
                </c:pt>
              </c:strCache>
            </c:strRef>
          </c:tx>
          <c:spPr>
            <a:solidFill>
              <a:srgbClr val="E63946"/>
            </a:solidFill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0.824</c:v>
                </c:pt>
                <c:pt idx="1">
                  <c:v>0.369</c:v>
                </c:pt>
                <c:pt idx="2">
                  <c:v>0.375</c:v>
                </c:pt>
                <c:pt idx="3">
                  <c:v>0.33</c:v>
                </c:pt>
                <c:pt idx="4">
                  <c:v>0.304</c:v>
                </c:pt>
                <c:pt idx="5">
                  <c:v>0.304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0D2137"/>
                </a:solidFill>
                <a:latin typeface="Arial"/>
              </a:defRPr>
            </a:pPr>
            <a:r>
              <a:rPr sz="1300" b="1" i="0" u="none" strike="noStrike">
                <a:solidFill>
                  <a:srgbClr val="0D2137"/>
                </a:solidFill>
                <a:latin typeface="Arial"/>
              </a:rPr>
              <a:t>Méthode du coude – KMeans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Inertie</c:v>
                </c:pt>
              </c:strCache>
            </c:strRef>
          </c:tx>
          <c:spPr>
            <a:solidFill>
              <a:srgbClr val="065A82"/>
            </a:solidFill>
            <a:ln w="3175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k=2</c:v>
                  </c:pt>
                  <c:pt idx="1">
                    <c:v>k=3</c:v>
                  </c:pt>
                  <c:pt idx="2">
                    <c:v>k=4</c:v>
                  </c:pt>
                  <c:pt idx="3">
                    <c:v>k=5</c:v>
                  </c:pt>
                  <c:pt idx="4">
                    <c:v>k=6</c:v>
                  </c:pt>
                  <c:pt idx="5">
                    <c:v>k=7</c:v>
                  </c:pt>
                  <c:pt idx="6">
                    <c:v>k=8</c:v>
                  </c:pt>
                  <c:pt idx="7">
                    <c:v>k=9</c:v>
                  </c:pt>
                  <c:pt idx="8">
                    <c:v>k=10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1530</c:v>
                </c:pt>
                <c:pt idx="1">
                  <c:v>995</c:v>
                </c:pt>
                <c:pt idx="2">
                  <c:v>784</c:v>
                </c:pt>
                <c:pt idx="3">
                  <c:v>660</c:v>
                </c:pt>
                <c:pt idx="4">
                  <c:v>539</c:v>
                </c:pt>
                <c:pt idx="5">
                  <c:v>444</c:v>
                </c:pt>
                <c:pt idx="6">
                  <c:v>372</c:v>
                </c:pt>
                <c:pt idx="7">
                  <c:v>335</c:v>
                </c:pt>
                <c:pt idx="8">
                  <c:v>304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2137"/>
                </a:solidFill>
                <a:latin typeface="Arial"/>
              </a:defRPr>
            </a:pPr>
            <a:r>
              <a:rPr sz="1100" b="1" i="0" u="none" strike="noStrike">
                <a:solidFill>
                  <a:srgbClr val="0D2137"/>
                </a:solidFill>
                <a:latin typeface="Arial"/>
              </a:rPr>
              <a:t>Disponibilité alimentaire (Kcal)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Kcal/pers/jour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1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 – Puissances
agricoles</c:v>
                  </c:pt>
                  <c:pt idx="1">
                    <c:v>B – Économies
développées</c:v>
                  </c:pt>
                  <c:pt idx="2">
                    <c:v>C – En
développement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3181</c:v>
                </c:pt>
                <c:pt idx="1">
                  <c:v>3238</c:v>
                </c:pt>
                <c:pt idx="2">
                  <c:v>2520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21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2137"/>
                </a:solidFill>
                <a:latin typeface="Arial"/>
              </a:defRPr>
            </a:pPr>
            <a:r>
              <a:rPr sz="1100" b="1" i="0" u="none" strike="noStrike">
                <a:solidFill>
                  <a:srgbClr val="0D2137"/>
                </a:solidFill>
                <a:latin typeface="Arial"/>
              </a:rPr>
              <a:t>Production par capita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Prod./capita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1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 – Puissances
agricoles</c:v>
                  </c:pt>
                  <c:pt idx="1">
                    <c:v>B – Économies
développées</c:v>
                  </c:pt>
                  <c:pt idx="2">
                    <c:v>C – En
développement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2.818</c:v>
                </c:pt>
                <c:pt idx="1">
                  <c:v>2.139</c:v>
                </c:pt>
                <c:pt idx="2">
                  <c:v>0.938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21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0D2137"/>
                </a:solidFill>
                <a:latin typeface="Arial"/>
              </a:defRPr>
            </a:pPr>
            <a:r>
              <a:rPr sz="1100" b="1" i="0" u="none" strike="noStrike">
                <a:solidFill>
                  <a:srgbClr val="0D2137"/>
                </a:solidFill>
                <a:latin typeface="Arial"/>
              </a:rPr>
              <a:t>Taux de dépendance alimentaire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dépend.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1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7B9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 – Puissances
agricoles</c:v>
                  </c:pt>
                  <c:pt idx="1">
                    <c:v>B – Économies
développées</c:v>
                  </c:pt>
                  <c:pt idx="2">
                    <c:v>C – En
développement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</c:v>
                </c:pt>
                <c:pt idx="1">
                  <c:v>39.4</c:v>
                </c:pt>
                <c:pt idx="2">
                  <c:v>29.2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21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D21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2011680"/>
            <a:ext cx="9784080" cy="2651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2011680"/>
            <a:ext cx="146304" cy="2651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2860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Disponibilité alimentaire mondiale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00200" y="32004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C7293"/>
                </a:solidFill>
              </a:rPr>
              <a:t>Étude de marché  –  Clustering des pays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778240" y="2514600"/>
            <a:ext cx="1737360" cy="11887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778240" y="32735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4E8"/>
                </a:solidFill>
              </a:rPr>
              <a:t>Données FAO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064A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108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P11  –  Data Analyst  |  Licence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0" y="6144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0D4E8"/>
                </a:solidFill>
              </a:rPr>
              <a:t>170 pays analysés  |  3 clusters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645920"/>
            <a:ext cx="18288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84708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Objectifs de l'étude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25650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40864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1645920"/>
            <a:ext cx="18288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18470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14016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&amp; Préparation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14016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Sources, nettoyage, feat. eng.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82466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645920"/>
            <a:ext cx="18288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82896" y="1847088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70832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multivariée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70832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Corrélations entre variables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39282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54496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645920"/>
            <a:ext cx="18288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6839712" y="1847088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839712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27648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27648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Réduction dimensionnelle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96098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11312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1312" y="1645920"/>
            <a:ext cx="18288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Shape 32"/>
          <p:cNvSpPr/>
          <p:nvPr/>
        </p:nvSpPr>
        <p:spPr>
          <a:xfrm>
            <a:off x="8796528" y="18470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8796528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84464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84464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CAH vs KMeans – k optimal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52914" y="25146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</a:rPr>
              <a:t>▶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168128" y="1645920"/>
            <a:ext cx="18288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68128" y="1645920"/>
            <a:ext cx="18288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753344" y="1847088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10753344" y="1938528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0241280" y="2670048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Recomm.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241280" y="3200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3 clusters – conseils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" y="4069080"/>
            <a:ext cx="11393424" cy="36576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Objectifs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2296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cette étude 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</a:rPr>
              <a:t>La sécurité alimentaire reste un défi mondial. En 2017, plusieurs dizaines de pays souffrent d'une insuffisance alimentaire critique.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</a:rPr>
              <a:t>Une entreprise cherchant à s'implanter à l'international doit comprendre le profil alimentaire de chaque marché pour adapter sa stratégie.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98448"/>
            <a:ext cx="53035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298448"/>
            <a:ext cx="530352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55448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27632"/>
            <a:ext cx="6583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14813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0" y="19202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</a:rPr>
              <a:t>Regrouper 170 pays en profils cohérents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962656"/>
            <a:ext cx="53035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962656"/>
            <a:ext cx="53035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3218688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3291840"/>
            <a:ext cx="6583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31455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35844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</a:rPr>
              <a:t>Identifier les facteurs de différenciation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626864"/>
            <a:ext cx="53035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626864"/>
            <a:ext cx="53035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882896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956048"/>
            <a:ext cx="6583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48097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98080" y="52486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E"/>
                </a:solidFill>
              </a:rPr>
              <a:t>Orienter la stratégie par cluster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88720"/>
            <a:ext cx="278892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E"/>
                </a:solidFill>
              </a:rPr>
              <a:t>Pays analysés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93008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3008" y="1188720"/>
            <a:ext cx="278892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93008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E"/>
                </a:solidFill>
              </a:rPr>
              <a:t>Variables utilisées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83096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3096" y="1188720"/>
            <a:ext cx="278892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096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83096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E"/>
                </a:solidFill>
              </a:rPr>
              <a:t>Année de référence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73184" y="1188720"/>
            <a:ext cx="2788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73184" y="1188720"/>
            <a:ext cx="2788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9473184" y="137160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473184" y="1984248"/>
            <a:ext cx="2788920" cy="480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E"/>
                </a:solidFill>
              </a:rPr>
              <a:t>Fichiers source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834640"/>
            <a:ext cx="562356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017520"/>
            <a:ext cx="82296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0632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DisponibiliteAlimentaire_2017.xlsx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429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F8E"/>
                </a:solidFill>
              </a:rPr>
              <a:t>FAO – Food Balance Sheets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8404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174 pays × 17 éléments × 95 produits alimentaires.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Production, imports, exports, disponibilité, nutrition…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834640"/>
            <a:ext cx="56235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834640"/>
            <a:ext cx="562356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3017520"/>
            <a:ext cx="82296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0632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Population_2000_2018.csv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3429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F8E"/>
                </a:solidFill>
              </a:rPr>
              <a:t>FAO – Population estimates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38404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238 pays × 19 années (2000–2018).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Population estimée en milliers de personnes.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Préparation des données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9456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" y="1554480"/>
            <a:ext cx="1993392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71907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2 fichiers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FAO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95144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51760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554480"/>
            <a:ext cx="1993392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392424" y="171907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392424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24912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24912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Somme / Moy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par pays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27448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</a:rPr>
              <a:t>▶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84064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4064" y="1554480"/>
            <a:ext cx="1993392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5824728" y="1719072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5824728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57216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57216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Population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2017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159752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</a:rPr>
              <a:t>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516368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6368" y="1554480"/>
            <a:ext cx="1993392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8257032" y="1719072"/>
            <a:ext cx="512064" cy="51206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8" name="Text 26"/>
          <p:cNvSpPr/>
          <p:nvPr/>
        </p:nvSpPr>
        <p:spPr>
          <a:xfrm>
            <a:off x="8257032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89520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89520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4 pays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supprimés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92056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</a:rPr>
              <a:t>▶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48672" y="1554480"/>
            <a:ext cx="1993392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48672" y="1554480"/>
            <a:ext cx="1993392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89336" y="1719072"/>
            <a:ext cx="512064" cy="51206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10689336" y="1773936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21824" y="237744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21824" y="2743200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4 variables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F8E"/>
                </a:solidFill>
              </a:rPr>
              <a:t>créées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3840480"/>
            <a:ext cx="109728" cy="2560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3977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 final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68680" y="448056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D4E8"/>
                </a:solidFill>
              </a:rPr>
              <a:t>170 pays  •  17 variables numériques  •  0 valeurs manquantes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D4E8"/>
                </a:solidFill>
              </a:rPr>
              <a:t>12 variables originales (production, nutrition, commerce…) + 4 variables engineered (ratios)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D4E8"/>
                </a:solidFill>
              </a:rPr>
              <a:t>Les 4 pays supprimés (Bermudes, Brunéi, Ouzbékistan, Lao) avaient des données incomplètes (&lt;2.5 % du total)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sélectionnées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64008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1521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1521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Capacité agricole nationale totale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627632"/>
            <a:ext cx="64008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16824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16824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Dépendance alimentaire extérieure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57984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57984"/>
            <a:ext cx="64008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212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22128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Flux vers l'extérieur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88336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688336"/>
            <a:ext cx="64008" cy="43891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2743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8892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Inefficacité de la chaîne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218688"/>
            <a:ext cx="64008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32735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Nourriture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3273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Quantité effectivement consommée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749040"/>
            <a:ext cx="64008" cy="43891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8039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Disp. intérieure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380390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Total disponible après commerce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279392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279392"/>
            <a:ext cx="64008" cy="43891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576072" y="43342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Var. de stock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88920" y="43342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Dynamique des réserves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4809744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809744"/>
            <a:ext cx="64008" cy="4389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576072" y="4864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Alim. animaux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88920" y="486460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Part destinée à l'élevage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1097280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63640" y="1097280"/>
            <a:ext cx="64008" cy="43891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28232" y="11521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Kcal / pers / jour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41080" y="11521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Indicateur sécurité alimentaire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1627632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1627632"/>
            <a:ext cx="64008" cy="43891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6428232" y="16824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 / pers / an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41080" y="16824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Volume alimentaire disponible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2157984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157984"/>
            <a:ext cx="64008" cy="43891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6" name="Text 44"/>
          <p:cNvSpPr/>
          <p:nvPr/>
        </p:nvSpPr>
        <p:spPr>
          <a:xfrm>
            <a:off x="6428232" y="2212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Graisses g/p/j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41080" y="221284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Équilibre nutritionnel – lipides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2688336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2688336"/>
            <a:ext cx="64008" cy="43891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0" name="Text 48"/>
          <p:cNvSpPr/>
          <p:nvPr/>
        </p:nvSpPr>
        <p:spPr>
          <a:xfrm>
            <a:off x="6428232" y="2743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Protéines g/p/j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4108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Équilibre nutritionnel – protéines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3218688"/>
            <a:ext cx="56692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0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3218688"/>
            <a:ext cx="64008" cy="438912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54" name="Text 52"/>
          <p:cNvSpPr/>
          <p:nvPr/>
        </p:nvSpPr>
        <p:spPr>
          <a:xfrm>
            <a:off x="6428232" y="32735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41080" y="3273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F8E"/>
                </a:solidFill>
              </a:rPr>
              <a:t>Variable de pondération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F8E"/>
                </a:solidFill>
              </a:rPr>
              <a:t>4 nouvelles variables créées à partir des variables originales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554480"/>
            <a:ext cx="2852928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Taux de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dépendance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Importations ÷ Disp. intérieure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Part des besoins couverte par l'extérieur.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Taux élevé = vulnérabilité.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499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554480"/>
            <a:ext cx="2852928" cy="64008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pertes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Pertes ÷ Disp. intérieure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Inefficacité de la chaîne.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Plus élevé = plus de gaspillage.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8251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1554480"/>
            <a:ext cx="2852928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capita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9224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÷ Population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Productivité agricole nationale.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Indicateur d'auto-suffisance.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400032" y="1554480"/>
            <a:ext cx="2852928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1554480"/>
            <a:ext cx="2852928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9491472" y="1783080"/>
            <a:ext cx="26700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export/import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09760" y="2633472"/>
            <a:ext cx="2633472" cy="475488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2633472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Exportations ÷ Importations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09760" y="3273552"/>
            <a:ext cx="26334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Position commerciale nette.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&gt; 1 = exportateur net.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corrélation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82296" cy="42062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18872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Corrélations identifiées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5486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548640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828800"/>
            <a:ext cx="82296" cy="12984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01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1 – Volumes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194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F8E"/>
                </a:solidFill>
              </a:rPr>
              <a:t>Production, Nourriture, Disp. intérieure, Pertes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24688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r &gt; 0.90 – mesurent la « taille alimentaire » du pays.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5486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291840"/>
            <a:ext cx="548640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291840"/>
            <a:ext cx="82296" cy="12984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3649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2 – Nutrition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3657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F8E"/>
                </a:solidFill>
              </a:rPr>
              <a:t>Kcal, Protéines, Graisses, kg/pers/an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49808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r = 0.75 à 0.89 – captent le niveau nutritionnel.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754880"/>
            <a:ext cx="54864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754880"/>
            <a:ext cx="54864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754880"/>
            <a:ext cx="82296" cy="12984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8280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 3 – 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5120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F8E"/>
                </a:solidFill>
              </a:rPr>
              <a:t>Importations, Exportations, Population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9808" y="53949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r = 0.70 à 0.88 – liées à la taille économique.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1188720"/>
            <a:ext cx="91440" cy="5029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298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clé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0" y="19202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6675120" y="25603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paires avec |r| &gt; 0.70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32004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0D4E8"/>
                </a:solidFill>
              </a:rPr>
              <a:t>Les variables volumétriques sont très redondantes entre elles.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D4E8"/>
                </a:solidFill>
              </a:rPr>
              <a:t>→ L'ACP condensera cette redondance en axes synthétiques orthogonaux.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– Ébouli des valeurs propres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7223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051560"/>
            <a:ext cx="40233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0" y="1051560"/>
            <a:ext cx="91440" cy="4297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1188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Composantes retenues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09244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F8E"/>
                </a:solidFill>
              </a:rPr>
              <a:t>composantes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2880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Critère Kaiser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92440" y="3136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Valeur propre ≥ 1 → 4 axes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34747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Seuil 80 %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37307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PC1+PC2+PC3+PC4 = 82.1 %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92440" y="41148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Détail cumulatif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92440" y="43708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PC1  →  41.0 %  |  cum. 41.0 %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92440" y="45537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PC2  →  23.6 %  |  cum. 64.6 %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092440" y="47365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</a:rPr>
              <a:t>PC3  →  11.5 %  |  cum. 76.1 %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92440" y="49194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PC4  →   6.0 %  |  cum. 82.1 % 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65760" y="55321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F8E"/>
                </a:solidFill>
              </a:rPr>
              <a:t>→ On retient 4 composantes : critère Kaiser + seuil 80 % atteint à PC4 (82.1 %)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– Interprétation des axes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66928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61872"/>
            <a:ext cx="201168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PC1 – 41.0 %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9019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Taille économique alimentaire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" y="235915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Production, Disp. intérieure, Nourriture.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À droite : grands pays producteurs.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097280"/>
            <a:ext cx="5669280" cy="640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261872"/>
            <a:ext cx="201168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261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PC2 – 23.6 %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73952" y="190195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Niveau nutritionnel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235915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Kcal, Protéines, Graisses par personne.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En haut : pays bien alimentés.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74904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749040"/>
            <a:ext cx="56692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13632"/>
            <a:ext cx="201168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13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PC3 – 11.5 %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45537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Productivité agricole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6072" y="501091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Prod./capita, Ratio exp/imp.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À droite : exportateurs agricoles nets.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3749040"/>
            <a:ext cx="566928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46520" y="3913632"/>
            <a:ext cx="2011680" cy="45720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913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PC4 – 6.0 %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4553712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des réserves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3952" y="501091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Ratio pertes, Var. de stock.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</a:rPr>
              <a:t>Discrimine sur l'efficacité logistique.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– Projection des pays sur PC1 × PC2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786384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051560"/>
            <a:ext cx="18288" cy="5349240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703320"/>
            <a:ext cx="7863840" cy="18288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080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F8E"/>
                </a:solidFill>
              </a:rPr>
              <a:t>← Petits pays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0" y="6080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F8E"/>
                </a:solidFill>
              </a:rPr>
              <a:t>Grands pays →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0789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F8E"/>
                </a:solidFill>
              </a:rPr>
              <a:t>Bien alimentés ↑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5120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F8E"/>
                </a:solidFill>
              </a:rPr>
              <a:t>Peu alimentés ↓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3291840" cy="24688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En développement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40233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8F"/>
                </a:solidFill>
              </a:rPr>
              <a:t>90 pays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371600"/>
            <a:ext cx="3931920" cy="2011680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Économies développées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286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7B9D"/>
                </a:solidFill>
              </a:rPr>
              <a:t>76 pays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1828800" cy="10972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71907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Puissances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09360" y="19385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3946"/>
                </a:solidFill>
              </a:rPr>
              <a:t>agricoles (4)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12280" y="1572768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536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USA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32320" y="18288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3" name="Text 21"/>
          <p:cNvSpPr/>
          <p:nvPr/>
        </p:nvSpPr>
        <p:spPr>
          <a:xfrm>
            <a:off x="7232904" y="17922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Brésil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400800" y="196596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6501384" y="19293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Chine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903720" y="20574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7004304" y="20208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Inde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017520" y="1572768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9" name="Text 27"/>
          <p:cNvSpPr/>
          <p:nvPr/>
        </p:nvSpPr>
        <p:spPr>
          <a:xfrm>
            <a:off x="3118104" y="153619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Allemagne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0" y="173736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1" name="Text 29"/>
          <p:cNvSpPr/>
          <p:nvPr/>
        </p:nvSpPr>
        <p:spPr>
          <a:xfrm>
            <a:off x="3758184" y="17007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France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03520" y="18288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5404104" y="17922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Japon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463040" y="365760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5" name="Text 33"/>
          <p:cNvSpPr/>
          <p:nvPr/>
        </p:nvSpPr>
        <p:spPr>
          <a:xfrm>
            <a:off x="1563624" y="36210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Niger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920240" y="429768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7" name="Text 35"/>
          <p:cNvSpPr/>
          <p:nvPr/>
        </p:nvSpPr>
        <p:spPr>
          <a:xfrm>
            <a:off x="2020824" y="4261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Haïti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645920" y="4754880"/>
            <a:ext cx="73152" cy="7315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9" name="Text 37"/>
          <p:cNvSpPr/>
          <p:nvPr/>
        </p:nvSpPr>
        <p:spPr>
          <a:xfrm>
            <a:off x="1746504" y="47183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2137"/>
                </a:solidFill>
              </a:rPr>
              <a:t>Madagascar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549640" y="1051560"/>
            <a:ext cx="3291840" cy="534924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41" name="Shape 39"/>
          <p:cNvSpPr/>
          <p:nvPr/>
        </p:nvSpPr>
        <p:spPr>
          <a:xfrm>
            <a:off x="8549640" y="1051560"/>
            <a:ext cx="91440" cy="5349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8823960" y="120700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Légende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869680" y="187452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4" name="Text 42"/>
          <p:cNvSpPr/>
          <p:nvPr/>
        </p:nvSpPr>
        <p:spPr>
          <a:xfrm>
            <a:off x="9372600" y="18379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Puissances agricoles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372600" y="21671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E8"/>
                </a:solidFill>
              </a:rPr>
              <a:t>4 pays : Brésil, Chine,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D4E8"/>
                </a:solidFill>
              </a:rPr>
              <a:t>Inde, USA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869680" y="3429000"/>
            <a:ext cx="384048" cy="384048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47" name="Text 45"/>
          <p:cNvSpPr/>
          <p:nvPr/>
        </p:nvSpPr>
        <p:spPr>
          <a:xfrm>
            <a:off x="9372600" y="33924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Économies développées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372600" y="37216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E8"/>
                </a:solidFill>
              </a:rPr>
              <a:t>76 pays : UE, Japon,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D4E8"/>
                </a:solidFill>
              </a:rPr>
              <a:t>Australie, Canada…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869680" y="49834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0" name="Text 48"/>
          <p:cNvSpPr/>
          <p:nvPr/>
        </p:nvSpPr>
        <p:spPr>
          <a:xfrm>
            <a:off x="9372600" y="4946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En développement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372600" y="5276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E8"/>
                </a:solidFill>
              </a:rPr>
              <a:t>90 pays : Afrique,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0D4E8"/>
                </a:solidFill>
              </a:rPr>
              <a:t>Asie du Sud…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– CAH (Ward)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572000" cy="5394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91440" cy="53949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CAH – Ward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Qu'est-ce que la CAH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54987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Clustering Ascendant Hiérarchique : on fusionne itérativement les clusters les plus proches jusqu'à n'en avoir qu'un.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196389"/>
            <a:ext cx="4114800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D2137"/>
                </a:solidFill>
              </a:rPr>
              <a:t> 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58368" y="2328062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Pourquoi Ward 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591410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Ward minimise la variance intra-cluster → clusters compacts et équilibrés.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832811"/>
            <a:ext cx="4114800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D2137"/>
                </a:solidFill>
              </a:rPr>
              <a:t> 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658368" y="2964485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Données utilisées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227832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On applique la CAH sur les 4 composantes de l'ACP pour éviter la redondance des 17 variables originales.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469234"/>
            <a:ext cx="4114800" cy="1207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D2137"/>
                </a:solidFill>
              </a:rPr>
              <a:t> 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58368" y="3600907"/>
            <a:ext cx="4114800" cy="241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</a:rPr>
              <a:t>Nombre de clusters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864254"/>
            <a:ext cx="411480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</a:rPr>
              <a:t>Le dendrogramme montre une grande distance entre les dernières fusions → k = 3 est naturel.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1371600"/>
            <a:ext cx="45720" cy="3474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790688" y="1554480"/>
            <a:ext cx="1463040" cy="3657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Shape 18"/>
          <p:cNvSpPr/>
          <p:nvPr/>
        </p:nvSpPr>
        <p:spPr>
          <a:xfrm>
            <a:off x="9253728" y="1554480"/>
            <a:ext cx="36576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0304" y="1920240"/>
            <a:ext cx="219456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9290304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4 pays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5361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F8E"/>
                </a:solidFill>
              </a:rPr>
              <a:t>dist = 42.3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790688" y="2468880"/>
            <a:ext cx="1097280" cy="36576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5" name="Shape 23"/>
          <p:cNvSpPr/>
          <p:nvPr/>
        </p:nvSpPr>
        <p:spPr>
          <a:xfrm>
            <a:off x="8887968" y="2468880"/>
            <a:ext cx="36576" cy="54864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6" name="Shape 24"/>
          <p:cNvSpPr/>
          <p:nvPr/>
        </p:nvSpPr>
        <p:spPr>
          <a:xfrm>
            <a:off x="8924544" y="2834640"/>
            <a:ext cx="2194560" cy="45720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27" name="Text 25"/>
          <p:cNvSpPr/>
          <p:nvPr/>
        </p:nvSpPr>
        <p:spPr>
          <a:xfrm>
            <a:off x="8924544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76 pays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45059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F8E"/>
                </a:solidFill>
              </a:rPr>
              <a:t>dist = 28.8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790688" y="3566160"/>
            <a:ext cx="731520" cy="3657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Shape 28"/>
          <p:cNvSpPr/>
          <p:nvPr/>
        </p:nvSpPr>
        <p:spPr>
          <a:xfrm>
            <a:off x="8522208" y="3566160"/>
            <a:ext cx="36576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Shape 29"/>
          <p:cNvSpPr/>
          <p:nvPr/>
        </p:nvSpPr>
        <p:spPr>
          <a:xfrm>
            <a:off x="8558784" y="3931920"/>
            <a:ext cx="2194560" cy="457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8558784" y="3931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90 pays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354787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F8E"/>
                </a:solidFill>
              </a:rPr>
              <a:t>dist = 20.5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75120" y="1371600"/>
            <a:ext cx="27432" cy="3474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2834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Seuil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</a:rPr>
              <a:t>k =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Nombre optimal de clusters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5760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051560"/>
          <a:ext cx="5623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846320"/>
            <a:ext cx="11521440" cy="173736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7" name="Shape 3"/>
          <p:cNvSpPr/>
          <p:nvPr/>
        </p:nvSpPr>
        <p:spPr>
          <a:xfrm>
            <a:off x="320040" y="4846320"/>
            <a:ext cx="91440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4956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4360" y="5440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k = 2 donne le meilleur silhouette mais est trivial : 4 pays géants vs le reste.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k = 3 est le meilleur compromis : séparation claire en 3 groupes. Le coude confirme ce choix.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CAH vs KMeans – Comparaison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de contingence (k = 3)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6583680" cy="2103120"/>
        </p:xfrm>
        <a:graphic>
          <a:graphicData uri="http://schemas.openxmlformats.org/drawingml/2006/table">
            <a:tbl>
              <a:tblPr/>
              <a:tblGrid>
                <a:gridCol w="2103120"/>
                <a:gridCol w="1490472"/>
                <a:gridCol w="1490472"/>
                <a:gridCol w="1490472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KMeans 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KMeans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KMeans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CAH 1 (A)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CAH 2 (B)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F8E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457B9D"/>
                          </a:solidFill>
                        </a:rPr>
                        <a:t>41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CAH 3 (C)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A9D8F"/>
                          </a:solidFill>
                        </a:rPr>
                        <a:t>86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2137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D2137"/>
                          </a:solidFill>
                        </a:rPr>
                        <a:t>35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051560"/>
            <a:ext cx="44348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06640" y="1051560"/>
            <a:ext cx="91440" cy="3520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7662672" y="1188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62672" y="1719072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</a:rPr>
              <a:t>✓  Les 4 pays géants sont identifiés identiquement par les deux méthodes.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</a:rPr>
              <a:t>✓  KMeans répartit plus équitablement les pays (90 / 76) vs CAH (125 / 41).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2137"/>
                </a:solidFill>
              </a:rPr>
              <a:t>→  KMeans utilisé pour l'analyse finale : clusters plus équilibrés et interprétables.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4800600"/>
            <a:ext cx="1133856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4800600"/>
            <a:ext cx="91440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4910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Données ACP vs Données originales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5349240"/>
          <a:ext cx="6858000" cy="960120"/>
        </p:xfrm>
        <a:graphic>
          <a:graphicData uri="http://schemas.openxmlformats.org/drawingml/2006/table">
            <a:tbl>
              <a:tblPr/>
              <a:tblGrid>
                <a:gridCol w="2560320"/>
                <a:gridCol w="2148840"/>
                <a:gridCol w="2148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Données ACP (4D)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Données originales (17D)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Silhouette k=3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</a:rPr>
                        <a:t>0.369</a:t>
                      </a: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F8E"/>
                          </a:solidFill>
                        </a:rPr>
                        <a:t>0.295</a:t>
                      </a: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</a:rPr>
                        <a:t>Silhouette k=4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</a:rPr>
                        <a:t>0.375</a:t>
                      </a: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F8E"/>
                          </a:solidFill>
                        </a:rPr>
                        <a:t>0.317</a:t>
                      </a:r>
                      <a:endParaRPr lang="en-US" sz="12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7772400" y="54864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→ Les données ACP donnent un meilleur silhouette.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</a:rPr>
              <a:t>La réduction dimensionnelle rend les distances plus significatives.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3 clusters identifiés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703320" cy="544068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3703320" cy="10058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1764792" y="841248"/>
            <a:ext cx="786384" cy="78638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1764792" y="932688"/>
            <a:ext cx="7863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Puissances agricoles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4 pays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09BAF"/>
                </a:solidFill>
              </a:rPr>
              <a:t>Brésil  •  Chine  •  Inde  •  États-Unis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4632" y="288036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Production massive (moy. 1 390 357 kt)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282696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Très faible dépendance imports (5.8 %)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" y="3685032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Exportateurs nets (ratio 3.10)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4087368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Moteurs mondias de l'alimentation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70248" y="1005840"/>
            <a:ext cx="3703320" cy="544068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0248" y="1005840"/>
            <a:ext cx="3703320" cy="100584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5000" y="841248"/>
            <a:ext cx="786384" cy="786384"/>
          </a:xfrm>
          <a:prstGeom prst="ellipse">
            <a:avLst/>
          </a:prstGeom>
          <a:solidFill>
            <a:srgbClr val="457B9D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932688"/>
            <a:ext cx="7863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407408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Économies développées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07408" y="2084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76 pays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07408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09BAF"/>
                </a:solidFill>
              </a:rPr>
              <a:t>Allemagne  •  France  •  Japon  •  Australie  •  Canada…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34840" y="288036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Niveau nutritionnel le plus élevé (3 238 Kcal)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3282696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Production par capita forte (2.14)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3685032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Chaîne efficace – peu de pertes (4.3 %)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4087368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Dépendance modérée imports (39.4 %)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0456" y="1005840"/>
            <a:ext cx="3703320" cy="544068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0456" y="1005840"/>
            <a:ext cx="3703320" cy="10058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8" name="Shape 26"/>
          <p:cNvSpPr/>
          <p:nvPr/>
        </p:nvSpPr>
        <p:spPr>
          <a:xfrm>
            <a:off x="9665208" y="841248"/>
            <a:ext cx="786384" cy="78638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9665208" y="932688"/>
            <a:ext cx="7863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357616" y="171907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développement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57616" y="208483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90 pays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57616" y="23957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09BAF"/>
                </a:solidFill>
              </a:rPr>
              <a:t>Niger  •  Haïti  •  Madagascar  •  Bangladesh…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85048" y="288036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Disponibilité alimentaire la plus faible (2 520 Kcal)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85048" y="3282696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Production par capita basse (0.94)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85048" y="3685032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Exportateurs très faibles (ratio 0.59)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85048" y="4087368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Les plus vulnérables à l'insécurité alimentaire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des clusters – Comparaison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100584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114800" y="100584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00584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77640"/>
          <a:ext cx="11521440" cy="237744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2743200"/>
                <a:gridCol w="2743200"/>
              </a:tblGrid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Indicateur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 – Puissances agricoles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 – Économies développées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7B9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 – En développement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Kcal / pers / jour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3 181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3 238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2 520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Protéines (g/pers/jour)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92.9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97.6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66.6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Graisses (g/pers/jour)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111.2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116.3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64.0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Production par capita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2.82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2.14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0.94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Taux dépendance (%)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5.8 %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39.4 %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29.2 %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2137"/>
                          </a:solidFill>
                        </a:rPr>
                        <a:t>Ratio pertes (%)</a:t>
                      </a:r>
                      <a:endParaRPr lang="en-US" sz="9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3946"/>
                          </a:solidFill>
                        </a:rPr>
                        <a:t>6.4 %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57B9D"/>
                          </a:solidFill>
                        </a:rPr>
                        <a:t>4.3 %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</a:rPr>
                        <a:t>5.9 %</a:t>
                      </a:r>
                      <a:endParaRPr lang="en-US" sz="10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A2A3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stratégiques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3703320" cy="6583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Puissances agricoles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389888"/>
            <a:ext cx="566928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3898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29768" y="1874520"/>
            <a:ext cx="34747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Partenariat en amont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Ces 4 pays contrôlent une part majeure de la production mondiale.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Opportunité : approvisionnement en matières brutes à grande échelle.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Stratégie : nouer des partenariats producteurs pour sécuriser les filières.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0248" y="105156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1051560"/>
            <a:ext cx="3703320" cy="658368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16" name="Text 14"/>
          <p:cNvSpPr/>
          <p:nvPr/>
        </p:nvSpPr>
        <p:spPr>
          <a:xfrm>
            <a:off x="4379976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– Économies développées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9976" y="1389888"/>
            <a:ext cx="566928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379976" y="13898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79976" y="1874520"/>
            <a:ext cx="34747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4379976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57B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 cible – valeur ajoutée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07408" y="2578608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Niveau de consommation élevé et pouvoir d'achat fort.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07408" y="3163824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Opportunité : produits transformés à haute valeur nutritionnelle.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407408" y="3749040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Stratégie : positionner sur qualité, innovation et bien-être.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0456" y="1051560"/>
            <a:ext cx="37033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0456" y="1051560"/>
            <a:ext cx="3703320" cy="6583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330184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– En développement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0184" y="1389888"/>
            <a:ext cx="566928" cy="219456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330184" y="138988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330184" y="1874520"/>
            <a:ext cx="34747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8330184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Marché à potentiel – besoins essentiels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57616" y="2578608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90 pays avec des besoins importants en alimentation de base.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57616" y="3163824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Opportunité : produits essentiels, programmes RSE, partenariats institutionnels.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57616" y="3749040"/>
            <a:ext cx="3419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</a:rPr>
              <a:t>▸  Stratégie : prix compétitifs, distribution adaptée, impact social.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611880" cy="16916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234440"/>
            <a:ext cx="361188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 pays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6968" y="205740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segmentés en 3 profils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cohérents via ACP + KMeans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34440"/>
            <a:ext cx="3611880" cy="16916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9" name="Shape 7"/>
          <p:cNvSpPr/>
          <p:nvPr/>
        </p:nvSpPr>
        <p:spPr>
          <a:xfrm>
            <a:off x="4617720" y="1234440"/>
            <a:ext cx="36118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axes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27448" y="205740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synthétisent 82 % de 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variance des 17 variables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0" y="1234440"/>
            <a:ext cx="3611880" cy="16916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58200" y="1234440"/>
            <a:ext cx="36118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1463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clusters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67928" y="2057400"/>
            <a:ext cx="33924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permettent une stratégie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différenciée par marché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9418320" cy="1920240"/>
          </a:xfrm>
          <a:prstGeom prst="rect">
            <a:avLst/>
          </a:prstGeom>
          <a:solidFill>
            <a:srgbClr val="123A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3383280"/>
            <a:ext cx="9418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3566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?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371600" y="42519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9BAF"/>
                </a:solidFill>
              </a:rPr>
              <a:t>Choix du nombre de composantes  •  Cercle des corrélations  •  CAH vs KMeans  •  k optimal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126480"/>
            <a:ext cx="12161520" cy="731520"/>
          </a:xfrm>
          <a:prstGeom prst="rect">
            <a:avLst/>
          </a:prstGeom>
          <a:solidFill>
            <a:srgbClr val="064A6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263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P11  –  Data Analyst  |  Licence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6291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D4E8"/>
                </a:solidFill>
              </a:rPr>
              <a:t>Données FAO 2017  |  170 pays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 – Disponibilité alimentaire mondiale 2017</dc:title>
  <dc:subject>PptxGenJS Presentation</dc:subject>
  <dc:creator>P11 – Data Analyst</dc:creator>
  <cp:lastModifiedBy>P11 – Data Analyst</cp:lastModifiedBy>
  <cp:revision>1</cp:revision>
  <dcterms:created xsi:type="dcterms:W3CDTF">2026-02-01T21:34:59Z</dcterms:created>
  <dcterms:modified xsi:type="dcterms:W3CDTF">2026-02-01T21:34:59Z</dcterms:modified>
</cp:coreProperties>
</file>