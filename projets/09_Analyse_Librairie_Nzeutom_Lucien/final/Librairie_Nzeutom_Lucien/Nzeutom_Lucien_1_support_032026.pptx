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 par catégorie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BE-4E7D-B16D-EC433BAAB118}"/>
              </c:ext>
            </c:extLst>
          </c:dPt>
          <c:dPt>
            <c:idx val="1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BE-4E7D-B16D-EC433BAAB118}"/>
              </c:ext>
            </c:extLst>
          </c:dPt>
          <c:dPt>
            <c:idx val="2"/>
            <c:bubble3D val="0"/>
            <c:spPr>
              <a:solidFill>
                <a:srgbClr val="45B7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BE-4E7D-B16D-EC433BAAB11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BE-4E7D-B16D-EC433BAAB11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BE-4E7D-B16D-EC433BAAB11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BE-4E7D-B16D-EC433BAAB11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Catégorie 0</c:v>
                </c:pt>
                <c:pt idx="1">
                  <c:v>Catégorie 1</c:v>
                </c:pt>
                <c:pt idx="2">
                  <c:v>Catégorie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36.700000000000003</c:v>
                </c:pt>
                <c:pt idx="1">
                  <c:v>40.1</c:v>
                </c:pt>
                <c:pt idx="2">
                  <c:v>23.2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BE-4E7D-B16D-EC433BAAB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73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en ligne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9 - Formation Data Analyst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" cy="3474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772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et données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Indicateurs clés de performance (KPIs)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Analyse du chiffre d'affaires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Analyse des produits (tops &amp; flops)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Clients BtoB et courbe de Lorenz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Tests statistiques (5 corrélations)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Conclusions et recommandations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DONNÉES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CONTEXTE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en ligne</a:t>
            </a:r>
            <a:endParaRPr lang="en-US" sz="1300" dirty="0"/>
          </a:p>
          <a:p>
            <a:pPr marL="285750" indent="-285750" algn="just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Mars 2021 - Février 2023</a:t>
            </a:r>
            <a:endParaRPr lang="en-US" sz="1300" dirty="0"/>
          </a:p>
          <a:p>
            <a:pPr marL="285750" indent="-285750" algn="just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fichiers sources :</a:t>
            </a:r>
            <a:endParaRPr lang="en-US" sz="1300" dirty="0"/>
          </a:p>
          <a:p>
            <a:pPr marL="285750" indent="-285750" algn="just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(8 621 clients)</a:t>
            </a:r>
          </a:p>
          <a:p>
            <a:pPr marL="285750" indent="-285750" algn="just">
              <a:buSzPct val="100000"/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(3 286 références)</a:t>
            </a:r>
            <a:endParaRPr lang="en-US" sz="13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(~687K)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OBJECTIFS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chiffre d'affaires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tops et flops produits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profils clients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clients BtoB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5 corrélations statistiques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7724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MÉTHODOLOGIE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Matplotlib • Seaborn • Scipy • Tests statistiques (χ², Pearson, Spearman, ANOVA)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77440" cy="10972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12.0M€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CA Total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3832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687 534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377440" cy="10972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1264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8 601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Clients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2377440" cy="10972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~21€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Panier moyen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2651760"/>
            <a:ext cx="2377440" cy="10972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Clients BtoB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377440" cy="10972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1264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3 242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Produits vendus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F3C4F"/>
                </a:solidFill>
              </a:rPr>
              <a:t>Données nettoyées • Clients BtoB exclus des analyses statistiques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CHIFFRE D'AFFAIRES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POINTS CLÉS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journalier moyen : 16 476€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moyen : 501 153€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stable avec variations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 mobiles 7j et 30j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progressive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3291840"/>
            <a:ext cx="310896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607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moyennes mobiles révèlent une tendance générale stable avec une légère croissance, malgré des fluctuations quotidiennes importantes.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E0097B-0176-6621-E7A0-603D93D8A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16254"/>
            <a:ext cx="4537107" cy="2257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CA PAR CATÉGORIE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188720"/>
            <a:ext cx="36576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66928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Catégorie 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F3C4F"/>
                </a:solidFill>
              </a:rPr>
              <a:t>4.4M€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6B"/>
                </a:solidFill>
              </a:rPr>
              <a:t>36.7%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0" y="2103120"/>
            <a:ext cx="365760" cy="36576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66928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Catégorie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F3C4F"/>
                </a:solidFill>
              </a:rPr>
              <a:t>4.8M€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ECDC4"/>
                </a:solidFill>
              </a:rPr>
              <a:t>40.1%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12080" y="3017520"/>
            <a:ext cx="365760" cy="365760"/>
          </a:xfrm>
          <a:prstGeom prst="rect">
            <a:avLst/>
          </a:prstGeom>
          <a:solidFill>
            <a:srgbClr val="45B7D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66928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Catégorie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F3C4F"/>
                </a:solidFill>
              </a:rPr>
              <a:t>2.8M€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5B7D1"/>
                </a:solidFill>
              </a:rPr>
              <a:t>23.2%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12080" y="3657600"/>
            <a:ext cx="3474720" cy="7315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3949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catégories 0 et 1 génèrent 77% du CA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PRODUITS : TOPS &amp; FLOPS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</a:rPr>
              <a:t> TOP PRODUITS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 CA généré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 nombre de ventes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 catégorie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moyens : 20-25€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</a:rPr>
              <a:t>FLOP PRODUITS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peu vendus identifiés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causes : prix, visibilité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catalogue nécessaire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4739999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A745"/>
                </a:solidFill>
              </a:rPr>
              <a:t>20% des produits = 80% du CA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FBF986-823C-F1A8-998F-07A83FB2B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994" y="754380"/>
            <a:ext cx="5481816" cy="20354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325634-9583-A9EF-7B70-FF41D2456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688" y="2835513"/>
            <a:ext cx="3931920" cy="1951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CLIENTS BtoB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MÉTHODE IQR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statistique : IQR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Q3 + 3 × IQR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outliers extrêmes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3840480" cy="1828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 CLIENTS BtoB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 des clients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7.35% du CA (884K€)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moyen : 221K€/client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des tests statistiques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BtoB vs BtoC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554480"/>
          <a:ext cx="3566160" cy="2194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C4F"/>
                          </a:solidFill>
                        </a:rPr>
                        <a:t>BtoB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C4F"/>
                          </a:solidFill>
                        </a:rPr>
                        <a:t>BtoC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Clients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4 (0.05%)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8 597 (99.95%)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CA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884K€ (7.4%)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11.1M€ (92.6%)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CA moyen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221K€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1 296€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Panier moyen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~60€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~21€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DE LORENZ - CONCENTRATION DU 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84048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COEFFICIENT DE GINI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</a:rPr>
              <a:t>0.4420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INTERPRÉTATION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modérée (&lt; 0.5)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clients → 20% du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 clients → 80% du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dépendance aux gros clients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925830"/>
            <a:ext cx="3566160" cy="329184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777240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97280" y="40690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Recommandation</a:t>
            </a:r>
            <a:r>
              <a:rPr lang="en-US" sz="1100" b="1" dirty="0">
                <a:solidFill>
                  <a:srgbClr val="FFFFFF"/>
                </a:solidFill>
              </a:rPr>
              <a:t> : Programme de fidélisation ciblé sur les 5% top clients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BAD364-4A3A-07FD-21E8-D3D1C35B5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925830"/>
            <a:ext cx="35661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comportements clients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réalisées SANS les 4 clients BtoB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8 596 clients BtoC • Seuil α = 0.05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CORRÉLATIONS TESTÉES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Genre ↔ Catégorie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χ² (Khi-deux)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Montant 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Pearson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Fréquence achat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Spearman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Panier moyen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Pearson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Catégorie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χ² + ANOVA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1097280"/>
            <a:ext cx="2011680" cy="32918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580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MÉTHODOLOGIE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155448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α = 0.05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bivariés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vs H1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Significatif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: Genre ↔ Catégorie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84048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Test du χ² (Khi-deux)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84048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4.8977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0.0864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=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384048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 SIGNIFICATIF (p &gt; 0.05)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INTERPRÉTATION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lien </a:t>
            </a:r>
            <a:r>
              <a:rPr lang="en-US" sz="1200" dirty="0" err="1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significatif</a:t>
            </a: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le genre et la catégorie de livres achetés.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103120"/>
            <a:ext cx="35661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15A41B-646E-B33B-1CFE-76F3F032A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496553"/>
            <a:ext cx="3493730" cy="15496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: Âge ↔ Montant Total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84048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Test de corrélation de Pearson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84048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(Pearson) = -0.1876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0.000000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faible négative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384048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SIGNIFICATIF (p &lt; 0.05)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INTERPRÉTATION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l'âge augmente, plus le montant total des achats diminue légèrement (corrélation faible).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1" y="2236972"/>
            <a:ext cx="3931920" cy="21945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55FFBC-6E57-E837-63E4-B3A1249B7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140" y="2571751"/>
            <a:ext cx="3830501" cy="14202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3, 4 &amp; 5 - RÉSULTATS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246888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TEST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Âge ↔ Fréquence achat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Spearman : ρ = 0.1277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p = 0.000000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SIGNIFICATIF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1097280"/>
            <a:ext cx="246888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TEST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Âge ↔ Panier moyen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Pearson : r = -0.5105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p = 0.000000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SIGNIFICATIF (forte)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46888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TEST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Âge ↔ Catégorie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χ² = 5047.30, p = 0.00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ANOVA F = 1201.70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 SIGNIFICATIF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SYNTHÈSE COMPLÈTE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746803"/>
              </p:ext>
            </p:extLst>
          </p:nvPr>
        </p:nvGraphicFramePr>
        <p:xfrm>
          <a:off x="914400" y="2926080"/>
          <a:ext cx="7772400" cy="146304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Significatif?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1. Genre-Catégorie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χ²=4.90, p=0.086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NON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2. Âge-Montant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Pearson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r=-0.19, p=0.00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3. Âge-Fréquence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Spearman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ρ=0.13, p=0.00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4. Âge-Panier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Pearson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r=-0.51, p=0.00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5. Âge-Catégorie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χ²+ANOVA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χ²=5047, F=1202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F3C4F"/>
                          </a:solidFill>
                        </a:rPr>
                        <a:t> </a:t>
                      </a: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45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</a:rPr>
              <a:t>CONSTATS PRINCIPAUX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: 12M€ sur 10 mois (stable)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: 4.6% = 80%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BtoB (7.4% du CA)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produits = 80%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corrélations significatives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 RECOMMANDATIONS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fidélité VIP (top 5%)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ciblé par âge/catégorie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catalogue (flops)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rapproché clients BtoB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du churn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804672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POINTS FORTS DE L'ANALYSE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rigoureuse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nettoyées et validées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 appropriés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clairs et pertinents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 - Librairie en ligne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863</Words>
  <Application>Microsoft Office PowerPoint</Application>
  <PresentationFormat>On-screen Show (16:9)</PresentationFormat>
  <Paragraphs>231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ventes - Librairie en ligne</dc:title>
  <dc:subject>PptxGenJS Presentation</dc:subject>
  <dc:creator>Data Analyst</dc:creator>
  <cp:lastModifiedBy>lucien nzeutom</cp:lastModifiedBy>
  <cp:revision>15</cp:revision>
  <dcterms:created xsi:type="dcterms:W3CDTF">2026-01-31T07:55:12Z</dcterms:created>
  <dcterms:modified xsi:type="dcterms:W3CDTF">2026-03-08T19:01:10Z</dcterms:modified>
</cp:coreProperties>
</file>