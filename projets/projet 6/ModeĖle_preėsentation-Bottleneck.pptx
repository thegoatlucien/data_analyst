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6" r:id="rId11"/>
    <p:sldId id="267" r:id="rId12"/>
    <p:sldId id="262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955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91CCA56-92FE-EA9A-EA01-683438F5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68FF2108-F066-59CF-F7F1-874F4BCF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47ED7920-D822-4E96-5812-3458E3E43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931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90609E9D-839E-535F-DD4A-38316BE2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4B0307EB-AF34-557B-089F-09612A6E1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902DAF1A-653A-F99E-B798-58580787A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4425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AF0430FC-C891-8368-59D2-9C8BBE92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E650FD2-B70E-FB53-E970-FF2AFD3FD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823789EE-EF4C-8090-35C9-DD701DF39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258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F7B2758B-F3F6-C1E4-234B-AD13C6FB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57321EF8-3AC2-2335-3A79-F0C9D1FC7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5131CC70-20AE-905E-1BEE-DF3F25D8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351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872055C-A101-42DD-BCE2-12C61575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95422B1A-345E-629D-DDE5-04D1FAD89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A5DF2FF3-FAE7-CE63-5C55-5209F115C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42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Présentation Bottleneck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Lucien Nzeutom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Formation Data Analyst Niveau 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Date de la présentation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390200"/>
            <a:ext cx="8981954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3 </a:t>
            </a:r>
            <a:r>
              <a:rPr lang="fr-FR" sz="16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datasets</a:t>
            </a:r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(ERP: produits/prix/stocks ; Web: ventes/SKU ; Liaison: liens).</a:t>
            </a:r>
          </a:p>
          <a:p>
            <a:endParaRPr lang="fr-FR" sz="16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ERP: 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inventaire magasin; </a:t>
            </a:r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Web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 logs du site e-commerce; </a:t>
            </a:r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liens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 dictionnaire pour matcher les codes.</a:t>
            </a:r>
          </a:p>
          <a:p>
            <a:endParaRPr lang="fr-FR" sz="16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Traitements réalisés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</a:t>
            </a:r>
          </a:p>
          <a:p>
            <a:pPr lvl="1"/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Nettoyage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 </a:t>
            </a:r>
          </a:p>
          <a:p>
            <a:pPr lvl="2"/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On supprime les doublons Web (798 lignes répétées)</a:t>
            </a:r>
          </a:p>
          <a:p>
            <a:pPr lvl="2"/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Dans Etape 3, merges (ERP + Liaison sur </a:t>
            </a:r>
            <a:r>
              <a:rPr lang="fr-FR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product_id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 ; puis +Web sur </a:t>
            </a:r>
            <a:r>
              <a:rPr lang="fr-FR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id_web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=</a:t>
            </a:r>
            <a:r>
              <a:rPr lang="fr-FR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sku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 avec </a:t>
            </a:r>
            <a:r>
              <a:rPr lang="fr-FR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left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 merge pour garder tous les produits ERP même sans ventes Web.</a:t>
            </a:r>
          </a:p>
          <a:p>
            <a:pPr lvl="1"/>
            <a:r>
              <a:rPr lang="fr-FR" sz="16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Features</a:t>
            </a:r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 engineering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 Ajout de colonnes calculées comme </a:t>
            </a:r>
            <a:r>
              <a:rPr lang="fr-FR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ca_par_article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fr-FR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rotation_stock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.</a:t>
            </a:r>
          </a:p>
          <a:p>
            <a:pPr lvl="1"/>
            <a:endParaRPr lang="fr-FR" sz="16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Remarques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 </a:t>
            </a:r>
            <a:r>
              <a:rPr lang="en-US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problèmes</a:t>
            </a: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0"/>
              </a:rPr>
              <a:t> avec le </a:t>
            </a:r>
            <a:r>
              <a:rPr lang="en-US" sz="1600" dirty="0" err="1">
                <a:solidFill>
                  <a:schemeClr val="tx1"/>
                </a:solidFill>
                <a:latin typeface="Montserrat" panose="00000500000000000000" pitchFamily="2" charset="0"/>
              </a:rPr>
              <a:t>mismatch_status</a:t>
            </a:r>
            <a:endParaRPr lang="en-US" sz="16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fr-FR" sz="16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Difficultés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 prix négatifs impliquant des erreurs avec le CA;</a:t>
            </a:r>
          </a:p>
          <a:p>
            <a:endParaRPr lang="fr-FR" sz="16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sz="1600" b="1" dirty="0">
                <a:solidFill>
                  <a:schemeClr val="tx1"/>
                </a:solidFill>
                <a:latin typeface="Montserrat" panose="00000500000000000000" pitchFamily="2" charset="0"/>
              </a:rPr>
              <a:t>Piège</a:t>
            </a: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: cases vides dans Liaison, car présence de vins sans liens web, pouvant les présenter comme orphelins dans le tableau.</a:t>
            </a:r>
            <a:endParaRPr lang="fr-FR" sz="1600" dirty="0"/>
          </a:p>
          <a:p>
            <a:endParaRPr lang="fr-FR" sz="1400" dirty="0"/>
          </a:p>
          <a:p>
            <a:endParaRPr lang="fr-FR" sz="1400" dirty="0"/>
          </a:p>
          <a:p>
            <a:pPr lvl="1"/>
            <a:endParaRPr lang="fr-FR" sz="1200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Choix attributs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 (numéro unique vin), </a:t>
            </a:r>
            <a:r>
              <a:rPr lang="fr-FR" dirty="0" err="1">
                <a:latin typeface="Montserrat" panose="00000500000000000000" pitchFamily="2" charset="0"/>
              </a:rPr>
              <a:t>price</a:t>
            </a:r>
            <a:r>
              <a:rPr lang="fr-FR" dirty="0">
                <a:latin typeface="Montserrat" panose="00000500000000000000" pitchFamily="2" charset="0"/>
              </a:rPr>
              <a:t> (prix vente), </a:t>
            </a:r>
            <a:r>
              <a:rPr lang="fr-FR" dirty="0" err="1">
                <a:latin typeface="Montserrat" panose="00000500000000000000" pitchFamily="2" charset="0"/>
              </a:rPr>
              <a:t>stock_quantity</a:t>
            </a:r>
            <a:r>
              <a:rPr lang="fr-FR" dirty="0">
                <a:latin typeface="Montserrat" panose="00000500000000000000" pitchFamily="2" charset="0"/>
              </a:rPr>
              <a:t> (stock disponible), </a:t>
            </a:r>
            <a:r>
              <a:rPr lang="fr-FR" dirty="0" err="1">
                <a:latin typeface="Montserrat" panose="00000500000000000000" pitchFamily="2" charset="0"/>
              </a:rPr>
              <a:t>total_sales</a:t>
            </a:r>
            <a:r>
              <a:rPr lang="fr-FR" dirty="0">
                <a:latin typeface="Montserrat" panose="00000500000000000000" pitchFamily="2" charset="0"/>
              </a:rPr>
              <a:t> (ventes octobre), </a:t>
            </a:r>
            <a:r>
              <a:rPr lang="fr-FR" dirty="0" err="1">
                <a:latin typeface="Montserrat" panose="00000500000000000000" pitchFamily="2" charset="0"/>
              </a:rPr>
              <a:t>purchase_price</a:t>
            </a:r>
            <a:r>
              <a:rPr lang="fr-FR" dirty="0">
                <a:latin typeface="Montserrat" panose="00000500000000000000" pitchFamily="2" charset="0"/>
              </a:rPr>
              <a:t> (coût achat pour marge) parce que Ces attributs sont focus business</a:t>
            </a:r>
          </a:p>
          <a:p>
            <a:r>
              <a:rPr lang="fr-FR" b="1" dirty="0">
                <a:latin typeface="Montserrat" panose="00000500000000000000" pitchFamily="2" charset="0"/>
              </a:rPr>
              <a:t>Clés utilisés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 (clé primaire ERP/Liaison pour matcher vins) ; </a:t>
            </a:r>
            <a:r>
              <a:rPr lang="fr-FR" dirty="0" err="1">
                <a:latin typeface="Montserrat" panose="00000500000000000000" pitchFamily="2" charset="0"/>
              </a:rPr>
              <a:t>id_web</a:t>
            </a:r>
            <a:r>
              <a:rPr lang="fr-FR" dirty="0">
                <a:latin typeface="Montserrat" panose="00000500000000000000" pitchFamily="2" charset="0"/>
              </a:rPr>
              <a:t>=</a:t>
            </a:r>
            <a:r>
              <a:rPr lang="fr-FR" dirty="0" err="1">
                <a:latin typeface="Montserrat" panose="00000500000000000000" pitchFamily="2" charset="0"/>
              </a:rPr>
              <a:t>sku</a:t>
            </a:r>
            <a:r>
              <a:rPr lang="fr-FR" dirty="0">
                <a:latin typeface="Montserrat" panose="00000500000000000000" pitchFamily="2" charset="0"/>
              </a:rPr>
              <a:t> (clé pour Web) ;Ces Clés assurent qu’il n’y a pas doublons.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Vigilances particulières au cours du traitements</a:t>
            </a:r>
            <a:r>
              <a:rPr lang="fr-FR" dirty="0">
                <a:latin typeface="Montserrat" panose="00000500000000000000" pitchFamily="2" charset="0"/>
              </a:rPr>
              <a:t>: Pendant merge, des prix négatifs, les  </a:t>
            </a:r>
            <a:r>
              <a:rPr lang="fr-FR" dirty="0" err="1">
                <a:latin typeface="Montserrat" panose="00000500000000000000" pitchFamily="2" charset="0"/>
              </a:rPr>
              <a:t>arrticles</a:t>
            </a:r>
            <a:r>
              <a:rPr lang="fr-FR" dirty="0">
                <a:latin typeface="Montserrat" panose="00000500000000000000" pitchFamily="2" charset="0"/>
              </a:rPr>
              <a:t> sans correspondances sont remplacés par 0.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Difficultés ou pièges rencontrés</a:t>
            </a:r>
            <a:r>
              <a:rPr lang="fr-FR" dirty="0">
                <a:latin typeface="Montserrat" panose="00000500000000000000" pitchFamily="2" charset="0"/>
              </a:rPr>
              <a:t>: . Doublons post-merge (182) le piège </a:t>
            </a:r>
            <a:r>
              <a:rPr lang="fr-FR" dirty="0" err="1">
                <a:latin typeface="Montserrat" panose="00000500000000000000" pitchFamily="2" charset="0"/>
              </a:rPr>
              <a:t>left</a:t>
            </a:r>
            <a:r>
              <a:rPr lang="fr-FR" dirty="0">
                <a:latin typeface="Montserrat" panose="00000500000000000000" pitchFamily="2" charset="0"/>
              </a:rPr>
              <a:t> merge garde tout, solution étant de supprimer les </a:t>
            </a:r>
            <a:r>
              <a:rPr lang="en-US" dirty="0" err="1">
                <a:latin typeface="Montserrat" panose="00000500000000000000" pitchFamily="2" charset="0"/>
              </a:rPr>
              <a:t>doublons</a:t>
            </a:r>
            <a:r>
              <a:rPr lang="fr-FR" dirty="0">
                <a:latin typeface="Montserrat" panose="00000500000000000000" pitchFamily="2" charset="0"/>
              </a:rPr>
              <a:t> sur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); présence des Stocks négatifs, solution: remplacer par 0 </a:t>
            </a:r>
          </a:p>
          <a:p>
            <a:endParaRPr lang="fr-FR" dirty="0"/>
          </a:p>
          <a:p>
            <a:endParaRPr lang="fr-FR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5169408" cy="3669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Méthodes statistiques employés</a:t>
            </a:r>
            <a:r>
              <a:rPr lang="fr-FR" dirty="0">
                <a:latin typeface="Montserrat" panose="00000500000000000000" pitchFamily="2" charset="0"/>
              </a:rPr>
              <a:t>: moyenne, écart type, Z-score(écart standardisé), IQR(intervalle interquartile)</a:t>
            </a:r>
          </a:p>
          <a:p>
            <a:r>
              <a:rPr lang="fr-FR" b="1" dirty="0">
                <a:latin typeface="Montserrat" panose="00000500000000000000" pitchFamily="2" charset="0"/>
              </a:rPr>
              <a:t>Médiane </a:t>
            </a:r>
            <a:r>
              <a:rPr lang="fr-FR" dirty="0">
                <a:latin typeface="Montserrat" panose="00000500000000000000" pitchFamily="2" charset="0"/>
              </a:rPr>
              <a:t>(~24,2€): 50 % des vins coûtent moins de 24,2€, et 50 % coûtent plus </a:t>
            </a:r>
          </a:p>
          <a:p>
            <a:r>
              <a:rPr lang="fr-FR" b="1" dirty="0" err="1">
                <a:latin typeface="Montserrat" panose="00000500000000000000" pitchFamily="2" charset="0"/>
              </a:rPr>
              <a:t>Skew</a:t>
            </a:r>
            <a:r>
              <a:rPr lang="fr-FR" b="1" dirty="0">
                <a:latin typeface="Montserrat" panose="00000500000000000000" pitchFamily="2" charset="0"/>
              </a:rPr>
              <a:t> Positif</a:t>
            </a:r>
            <a:r>
              <a:rPr lang="fr-FR" dirty="0">
                <a:latin typeface="Montserrat" panose="00000500000000000000" pitchFamily="2" charset="0"/>
              </a:rPr>
              <a:t>: Car c’est typique du marché du vin : beaucoup de bouteilles à 20€ et quelques bouteilles "prestiges" très chères.</a:t>
            </a:r>
          </a:p>
          <a:p>
            <a:r>
              <a:rPr lang="fr-FR" b="1" dirty="0">
                <a:latin typeface="Montserrat" panose="00000500000000000000" pitchFamily="2" charset="0"/>
              </a:rPr>
              <a:t>Les limites d’analyse</a:t>
            </a:r>
            <a:r>
              <a:rPr lang="fr-FR" dirty="0">
                <a:latin typeface="Montserrat" panose="00000500000000000000" pitchFamily="2" charset="0"/>
              </a:rPr>
              <a:t>: Le mois unique (Octobre) , donc manque de volumes.</a:t>
            </a:r>
            <a:endParaRPr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118DF-3C64-C739-8CBF-BE4BF066F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25" y="1727450"/>
            <a:ext cx="3929768" cy="2787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151779" y="1473600"/>
            <a:ext cx="4319521" cy="3401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dirty="0">
                <a:latin typeface="Montserrat" panose="00000500000000000000" pitchFamily="2" charset="0"/>
              </a:rPr>
              <a:t>Méthodes statistiques employés</a:t>
            </a:r>
            <a:r>
              <a:rPr lang="fr-FR" dirty="0">
                <a:latin typeface="Montserrat" panose="00000500000000000000" pitchFamily="2" charset="0"/>
              </a:rPr>
              <a:t>: Le Chiffre d'Affaires (CA), La Loi de Pareto (80/20), La Marge, Rotation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b="1" dirty="0">
                <a:latin typeface="Montserrat" panose="00000500000000000000" pitchFamily="2" charset="0"/>
              </a:rPr>
              <a:t>Vins rouges/rosés </a:t>
            </a:r>
            <a:r>
              <a:rPr lang="fr-FR" dirty="0">
                <a:latin typeface="Montserrat" panose="00000500000000000000" pitchFamily="2" charset="0"/>
              </a:rPr>
              <a:t>dominent top .Ces vins rapportent beaucoup, il faut les prioriser en stock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F0D2B-245C-D679-FBD0-27B7DD21A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300" y="1727450"/>
            <a:ext cx="4650410" cy="2174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0014370-E910-937A-893E-B84ABF6A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2DF7A4F1-56FB-2CA9-F0D3-7EB87CA47302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CE39ACCA-7A54-58C2-77B7-A2F2A6F1EF3E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FCB3E3B-7441-97FC-797D-A0A767B81CD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A43288A7-6917-781D-B8B1-7442333CA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313" y="1528607"/>
            <a:ext cx="477448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Clr>
                <a:srgbClr val="999999"/>
              </a:buClr>
              <a:buNone/>
            </a:pPr>
            <a:r>
              <a:rPr lang="fr-FR" b="1" dirty="0">
                <a:latin typeface="Montserrat" panose="00000500000000000000" pitchFamily="2" charset="0"/>
              </a:rPr>
              <a:t>Flop 20 Produits par Mois de Stock</a:t>
            </a:r>
          </a:p>
          <a:p>
            <a:pPr>
              <a:buClr>
                <a:srgbClr val="999999"/>
              </a:buClr>
            </a:pPr>
            <a:r>
              <a:rPr lang="fr-FR" b="1" dirty="0">
                <a:latin typeface="Montserrat" panose="00000500000000000000" pitchFamily="2" charset="0"/>
              </a:rPr>
              <a:t>Méthode statistique employée: </a:t>
            </a:r>
            <a:r>
              <a:rPr lang="fr-FR" dirty="0">
                <a:latin typeface="Montserrat" panose="00000500000000000000" pitchFamily="2" charset="0"/>
              </a:rPr>
              <a:t>Rotation</a:t>
            </a:r>
          </a:p>
          <a:p>
            <a:pPr marL="114300" indent="0">
              <a:buClr>
                <a:srgbClr val="999999"/>
              </a:buClr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pPr>
              <a:buClr>
                <a:srgbClr val="999999"/>
              </a:buClr>
            </a:pPr>
            <a:r>
              <a:rPr lang="fr-FR" dirty="0">
                <a:latin typeface="Montserrat" panose="00000500000000000000" pitchFamily="2" charset="0"/>
              </a:rPr>
              <a:t>Beaucoup de produits </a:t>
            </a:r>
            <a:r>
              <a:rPr lang="fr-FR" b="1" dirty="0">
                <a:latin typeface="Montserrat" panose="00000500000000000000" pitchFamily="2" charset="0"/>
              </a:rPr>
              <a:t>lents &gt;15 mois</a:t>
            </a:r>
            <a:r>
              <a:rPr lang="fr-FR" dirty="0">
                <a:latin typeface="Montserrat" panose="00000500000000000000" pitchFamily="2" charset="0"/>
              </a:rPr>
              <a:t>: Risque gaspillage</a:t>
            </a:r>
          </a:p>
          <a:p>
            <a:pPr>
              <a:buClr>
                <a:srgbClr val="999999"/>
              </a:buClr>
            </a:pPr>
            <a:endParaRPr lang="fr-FR" dirty="0"/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6DFE6E-02F0-AB8B-E694-30AB648CD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829448"/>
            <a:ext cx="4164888" cy="203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B9CA90B-F4E1-8F36-367A-2DB7344F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1D2B77B5-9404-0F57-F321-2D6A46E6BE7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77057453-2698-BAAD-3C45-B0044926DA7B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522951B-89EE-1662-87F4-A280DE7D837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81C2CAF5-B076-DA2A-962E-778B97098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313" y="1528607"/>
            <a:ext cx="44696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Montserrat" panose="00000500000000000000" pitchFamily="2" charset="0"/>
              </a:rPr>
              <a:t>La Marge</a:t>
            </a:r>
            <a:r>
              <a:rPr lang="fr-FR" dirty="0">
                <a:latin typeface="Montserrat" panose="00000500000000000000" pitchFamily="2" charset="0"/>
              </a:rPr>
              <a:t>: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Méthode statistique employée</a:t>
            </a:r>
            <a:r>
              <a:rPr lang="fr-FR" dirty="0">
                <a:latin typeface="Montserrat" panose="00000500000000000000" pitchFamily="2" charset="0"/>
              </a:rPr>
              <a:t>: La marge</a:t>
            </a: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Bonne marge en général, sauf pour le </a:t>
            </a:r>
            <a:r>
              <a:rPr lang="fr-FR" b="1" dirty="0">
                <a:latin typeface="Montserrat" panose="00000500000000000000" pitchFamily="2" charset="0"/>
              </a:rPr>
              <a:t>champagne</a:t>
            </a:r>
            <a:r>
              <a:rPr lang="fr-FR" dirty="0">
                <a:latin typeface="Montserrat" panose="00000500000000000000" pitchFamily="2" charset="0"/>
              </a:rPr>
              <a:t> qui nécessite </a:t>
            </a:r>
            <a:r>
              <a:rPr lang="en-US" dirty="0" err="1">
                <a:latin typeface="Montserrat" panose="00000500000000000000" pitchFamily="2" charset="0"/>
              </a:rPr>
              <a:t>peut-être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une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renégociation</a:t>
            </a:r>
            <a:endParaRPr lang="fr-FR" dirty="0">
              <a:latin typeface="Montserrat" panose="00000500000000000000" pitchFamily="2" charset="0"/>
            </a:endParaRP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Les spiritueux comme le </a:t>
            </a:r>
            <a:r>
              <a:rPr lang="fr-FR" b="1" dirty="0">
                <a:latin typeface="Montserrat" panose="00000500000000000000" pitchFamily="2" charset="0"/>
              </a:rPr>
              <a:t>Whisky (</a:t>
            </a:r>
            <a:r>
              <a:rPr lang="en-US" b="1" dirty="0">
                <a:latin typeface="Montserrat" panose="00000500000000000000" pitchFamily="2" charset="0"/>
              </a:rPr>
              <a:t>~</a:t>
            </a:r>
            <a:r>
              <a:rPr lang="fr-FR" b="1" dirty="0">
                <a:latin typeface="Montserrat" panose="00000500000000000000" pitchFamily="2" charset="0"/>
              </a:rPr>
              <a:t>0.54)</a:t>
            </a:r>
            <a:r>
              <a:rPr lang="fr-FR" dirty="0">
                <a:latin typeface="Montserrat" panose="00000500000000000000" pitchFamily="2" charset="0"/>
              </a:rPr>
              <a:t> sont les plus rentables : c'est là qu'il faut mettre l'effort de vente</a:t>
            </a:r>
            <a:endParaRPr lang="fr-FR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-FR" dirty="0"/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44A6C-0BAD-DF32-CC00-AA056C11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96538"/>
            <a:ext cx="4448589" cy="21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0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CF4B5F0-36BA-57D3-B3EA-28FBDD31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638D0D71-C241-F7FB-74F2-6D198DB0198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BAD20D67-7481-ED8B-27DE-137DADEED44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703F11B9-593D-C4C2-9459-78ED29BA104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13f9e8f1567_0_0"/>
          <p:cNvSpPr/>
          <p:nvPr/>
        </p:nvSpPr>
        <p:spPr>
          <a:xfrm>
            <a:off x="1042159" y="1509851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/>
          </p:cNvSpPr>
          <p:nvPr/>
        </p:nvSpPr>
        <p:spPr>
          <a:xfrm>
            <a:off x="94343" y="1490317"/>
            <a:ext cx="3568053" cy="363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Montserrat" panose="00000500000000000000" pitchFamily="2" charset="0"/>
              </a:rPr>
              <a:t>Analyse de la </a:t>
            </a:r>
            <a:r>
              <a:rPr lang="fr-FR" b="1" dirty="0" err="1">
                <a:latin typeface="Montserrat" panose="00000500000000000000" pitchFamily="2" charset="0"/>
              </a:rPr>
              <a:t>Heatmap</a:t>
            </a:r>
            <a:r>
              <a:rPr lang="fr-FR" b="1" dirty="0">
                <a:latin typeface="Montserrat" panose="00000500000000000000" pitchFamily="2" charset="0"/>
              </a:rPr>
              <a:t>(Corrélations)</a:t>
            </a:r>
          </a:p>
          <a:p>
            <a:pPr marL="0" indent="0"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Stock vs Ventes: (</a:t>
            </a:r>
            <a:r>
              <a:rPr lang="fr-FR" dirty="0">
                <a:latin typeface="Montserrat" panose="00000500000000000000" pitchFamily="2" charset="0"/>
              </a:rPr>
              <a:t>0.34)</a:t>
            </a:r>
            <a:r>
              <a:rPr lang="fr-FR" b="1" dirty="0">
                <a:latin typeface="Montserrat" panose="00000500000000000000" pitchFamily="2" charset="0"/>
              </a:rPr>
              <a:t> Lien positif modéré.</a:t>
            </a:r>
            <a:r>
              <a:rPr lang="fr-FR" dirty="0">
                <a:latin typeface="Montserrat" panose="00000500000000000000" pitchFamily="2" charset="0"/>
              </a:rPr>
              <a:t> Globalement, quand il y’a as plus de stock d'un produit, il a tendance à mieux se vendre.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Lien négatif faible entre Prix et ventes(-0.24).</a:t>
            </a:r>
            <a:r>
              <a:rPr lang="fr-FR" dirty="0">
                <a:latin typeface="Montserrat" panose="00000500000000000000" pitchFamily="2" charset="0"/>
              </a:rPr>
              <a:t> Cela suggère que si le prix augmente, les ventes baissent légèrement. Mais le lien est faible, ce qui signifie que les clients acceptent plutôt bien les prix élevés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Aucun lien entre Stock et prix  (proche de 0).</a:t>
            </a:r>
            <a:r>
              <a:rPr lang="fr-FR" dirty="0">
                <a:latin typeface="Montserrat" panose="00000500000000000000" pitchFamily="2" charset="0"/>
              </a:rPr>
              <a:t> Le prix d'une bouteille n'influence pas la quantité que tu as en stock. </a:t>
            </a: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Limite éventuelle de l’analyse : analyse faite sur un mois.</a:t>
            </a:r>
          </a:p>
          <a:p>
            <a:pPr marL="285750" indent="-285750"/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F1FAE-B4E7-71A5-935B-3D0D8D4C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654" y="1390200"/>
            <a:ext cx="4307088" cy="356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4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E3AE835A-FA22-EB0D-A44D-992BD2ED2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7241" y="1706152"/>
            <a:ext cx="79749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Qualité des Données 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Stopper les erreurs à la source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Zéro Négatif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Bloquer la saisie de prix &lt; 0 dans l'ERP (évite un CA faussé de -76k€ à +70k€).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Automatisation API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Lier l'ERP et le Web pour éliminer les 91 cases vides et 20 erreurs de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Formation &amp; Unicité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Règle d'unicité en BDD pour supprimer les doublons (réduction de 1513 à 714 lignes).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0A89816E-9CFD-2670-B383-1FB773B5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8399792F-84B3-CAB6-4905-3AB0F48A8BD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B130B26D-ACD2-99A2-064D-B6827F549E0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8D55B6A1-F7CF-11DD-B88C-E2DDB88EC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69" y="1642227"/>
            <a:ext cx="8079130" cy="291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Analyse Stratégique (CA &amp; Stocks)</a:t>
            </a:r>
          </a:p>
          <a:p>
            <a:pPr marL="114300" indent="0">
              <a:buNone/>
            </a:pPr>
            <a:endParaRPr lang="fr-FR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Pareto 80/51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420 articles (51% du catalogue) génèrent 80% du CA. Modèle diversifié, peu concentré.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Corrélation Stock/Ventes (0.34)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Lien positif modéré. Le stock soutient les ventes, mais n'est pas le seul moteur.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Élasticité Prix (-0.24)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Lien négatif faible. Baisser les prix impacte peu les volumes ; privilégier la valeur.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30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14719A73-5722-AF37-1463-3ED189978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8AB01049-5186-C07C-5C6F-2FE02645A07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F6768B3E-1BC3-B33F-3BA3-09A0CEDB1317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B32E180-B94B-19E6-CC6C-AB47C252F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69" y="1801502"/>
            <a:ext cx="8079130" cy="2599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Plan d'Action Promotionnel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Priorité Déstockage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Vins à rotation lente (ex: Champagne 31 mois) hors du Top 51% du CA.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Focus Marge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Prioriser les spiritueux comme le 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wisky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(marge 0.54) face à la moyenne globale (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~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0.42).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Vitrines Luxe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Maintenir les prix hauts sur les "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Outliers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" (&gt;82€) qui tirent le CA vers le haut (ex: Egly-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Ouriet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04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219919" y="1528599"/>
            <a:ext cx="8653355" cy="34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Qu’est-ce qui s’est bien passé : Nettoyage doublons/</a:t>
            </a:r>
            <a:r>
              <a:rPr lang="fr-FR" dirty="0" err="1">
                <a:latin typeface="Montserrat" panose="00000500000000000000" pitchFamily="2" charset="0"/>
              </a:rPr>
              <a:t>attachments</a:t>
            </a:r>
            <a:r>
              <a:rPr lang="fr-FR" dirty="0">
                <a:latin typeface="Montserrat" panose="00000500000000000000" pitchFamily="2" charset="0"/>
              </a:rPr>
              <a:t> ,Trouver top20 CA.</a:t>
            </a:r>
          </a:p>
          <a:p>
            <a:r>
              <a:rPr lang="fr-FR" dirty="0">
                <a:latin typeface="Montserrat" panose="00000500000000000000" pitchFamily="2" charset="0"/>
              </a:rPr>
              <a:t>Qu’est-ce que vous avez trouvé le plus difficile : Gérer négatifs/</a:t>
            </a:r>
            <a:r>
              <a:rPr lang="fr-FR" dirty="0" err="1">
                <a:latin typeface="Montserrat" panose="00000500000000000000" pitchFamily="2" charset="0"/>
              </a:rPr>
              <a:t>mismatches</a:t>
            </a:r>
            <a:r>
              <a:rPr lang="fr-FR" dirty="0">
                <a:latin typeface="Montserrat" panose="00000500000000000000" pitchFamily="2" charset="0"/>
              </a:rPr>
              <a:t> car il faudrait pour les prix négatifs soit fixer, soit jeter; calculer le 80/20.</a:t>
            </a:r>
          </a:p>
          <a:p>
            <a:r>
              <a:rPr lang="fr-FR" dirty="0">
                <a:latin typeface="Montserrat" panose="00000500000000000000" pitchFamily="2" charset="0"/>
              </a:rPr>
              <a:t>Sur quelles tâches plus d'entraînement : la proportion  Pareto </a:t>
            </a:r>
            <a:r>
              <a:rPr lang="en-US" dirty="0" err="1">
                <a:latin typeface="Montserrat" panose="00000500000000000000" pitchFamily="2" charset="0"/>
              </a:rPr>
              <a:t>étant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fr-FR" dirty="0">
                <a:latin typeface="Montserrat" panose="00000500000000000000" pitchFamily="2" charset="0"/>
              </a:rPr>
              <a:t>50.91, analyser sur le pourquoi ce n’est pas le 20/80 classique et comment le régler; s’entrainer plus sur la lecture de la corrélation.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1007</Words>
  <Application>Microsoft Office PowerPoint</Application>
  <PresentationFormat>On-screen Show (16:9)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Montserrat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lucien nzeutom</cp:lastModifiedBy>
  <cp:revision>9</cp:revision>
  <dcterms:modified xsi:type="dcterms:W3CDTF">2026-01-24T18:32:48Z</dcterms:modified>
</cp:coreProperties>
</file>