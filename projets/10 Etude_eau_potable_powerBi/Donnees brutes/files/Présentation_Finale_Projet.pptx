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8AABD3"/>
                </a:solidFill>
              </a:defRPr>
            </a:pPr>
            <a:r>
              <a:t>Accès à l'Eau Potable dans le Monde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754880"/>
            <a:ext cx="3657600" cy="457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Projet d'Analyse de Données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6459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4592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Contexte du projet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2402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4028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Sources de données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283464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4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Prétraitement des données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342900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2900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Blueprint - Captures d'écran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40233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2336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Justification de l'outil Power BI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46177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6177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61772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Architecture du tableau de bord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52120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2120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1208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Spécifications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1. CONTEXTE DU PROJET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Objectif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Créer un tableau de bord interactif pour analyser l'accès à l'eau potable dans 194 pays sur la période 2000-2018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Périmètre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Analyse à 3 niveaux : mondial, continental (6 régions) et national (194 pays)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Enjeu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69079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Identifier les pays prioritaires pour 3 domaines d'intervention : création de services, modernisation, et consulting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37759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59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775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Public cible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57799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Organisations internationales, ONG, gouvernements et décideurs politiques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2. SOURCES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Pays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Années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Régions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Fichiers de données consolidés :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54787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Population (Total, Rural, Urban, Male, Female) - 20 914 lignes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91363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Stabilité politique par pays et année - 3 526 lignes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27939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Services d'eau potable (basique et gérés de manière sûre) - 10 476 lignes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64515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Taux de mortalité lié à l'eau insalubre - 549 lignes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01091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9377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Référentiel Région-Pays - 194 correspondances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PRÉTRAITEMENT DES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1️⃣ Nettoyage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Renommage des colonnes</a:t>
            </a:r>
            <a:br/>
            <a:r>
              <a:t>• Standardisation des noms de pays</a:t>
            </a:r>
            <a:br/>
            <a:r>
              <a:t>• Suppression caractères spéciaux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2️⃣ Jointures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Table principale par jointure sur Country et Year</a:t>
            </a:r>
            <a:br/>
            <a:r>
              <a:t>• 5 tables sources consolidées</a:t>
            </a:r>
            <a:br/>
            <a:r>
              <a:t>• 4 430 lignes finales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79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3️⃣ Filtrage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7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Sélection granularité 'Total'</a:t>
            </a:r>
            <a:br/>
            <a:r>
              <a:t>• Exclusion des valeurs manquantes critiques</a:t>
            </a:r>
            <a:br/>
            <a:r>
              <a:t>• Validation des périodes temporelles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280160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4173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4️⃣ Enrichissement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Calcul des % urbain/rural</a:t>
            </a:r>
            <a:br/>
            <a:r>
              <a:t>• Ajout dimension Région</a:t>
            </a:r>
            <a:br/>
            <a:r>
              <a:t>• Création champs pour 3 domaines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017520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154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5️⃣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Vérification cohérence des données</a:t>
            </a:r>
            <a:br/>
            <a:r>
              <a:t>• Contrôle des doublons</a:t>
            </a:r>
            <a:br/>
            <a:r>
              <a:t>• Validation des jointures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754879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8920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6️⃣ Export 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21207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6 onglets structurés</a:t>
            </a:r>
            <a:br/>
            <a:r>
              <a:t>• Optimisé pour Power BI</a:t>
            </a:r>
            <a:br/>
            <a:r>
              <a:t>• Documentation intégrée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BLUEPRINT - Partie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C7293"/>
                </a:solidFill>
              </a:defRPr>
            </a:pPr>
            <a:r>
              <a:t>Mapping détaillé : Besoins utilisateurs → Mesures → Visualisations →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71600" y="2103120"/>
            <a:ext cx="6400800" cy="3200400"/>
          </a:xfrm>
          <a:prstGeom prst="roundRect">
            <a:avLst/>
          </a:prstGeom>
          <a:solidFill>
            <a:srgbClr val="FFFACD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5852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</a:defRPr>
            </a:pPr>
            <a:r>
              <a:t>📸 CAPTURE D'ÉCRAN À INSÉRER ICI</a:t>
            </a:r>
          </a:p>
          <a:p>
            <a:br/>
            <a:pPr algn="l">
              <a:spcBef>
                <a:spcPts val="1200"/>
              </a:spcBef>
              <a:defRPr sz="1400" b="1">
                <a:solidFill>
                  <a:srgbClr val="404040"/>
                </a:solidFill>
              </a:defRPr>
            </a:pPr>
            <a:r>
              <a:t>Procédure :</a:t>
            </a:r>
          </a:p>
          <a:p>
            <a:pPr>
              <a:lnSpc>
                <a:spcPct val="130000"/>
              </a:lnSpc>
              <a:defRPr sz="1200">
                <a:solidFill>
                  <a:srgbClr val="404040"/>
                </a:solidFill>
              </a:defRPr>
            </a:pPr>
            <a:r>
              <a:t>1. Ouvrez le fichier 'Blueprint_Complété.docx'</a:t>
            </a:r>
            <a:br/>
            <a:r>
              <a:t>2. Faites une capture du tableau (lignes 1-7)</a:t>
            </a:r>
            <a:br/>
            <a:r>
              <a:t>3. Collez la capture ici en remplaçant cet encadré</a:t>
            </a:r>
            <a:br/>
            <a:r>
              <a:t>4. Redimensionnez pour occuper l'espace disponible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BLUEPRINT - Partie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C7293"/>
                </a:solidFill>
              </a:defRPr>
            </a:pPr>
            <a:r>
              <a:t>Suite du Blueprint : Filtres et fonctionnalités avancées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6400800" cy="3200400"/>
          </a:xfrm>
          <a:prstGeom prst="roundRect">
            <a:avLst/>
          </a:prstGeom>
          <a:solidFill>
            <a:srgbClr val="FFFACD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5852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</a:defRPr>
            </a:pPr>
            <a:r>
              <a:t>📸 CAPTURE D'ÉCRAN À INSÉRER ICI</a:t>
            </a:r>
          </a:p>
          <a:p>
            <a:br/>
            <a:pPr algn="l">
              <a:spcBef>
                <a:spcPts val="1200"/>
              </a:spcBef>
              <a:defRPr sz="1400" b="1">
                <a:solidFill>
                  <a:srgbClr val="404040"/>
                </a:solidFill>
              </a:defRPr>
            </a:pPr>
            <a:r>
              <a:t>Procédure :</a:t>
            </a:r>
          </a:p>
          <a:p>
            <a:pPr>
              <a:lnSpc>
                <a:spcPct val="130000"/>
              </a:lnSpc>
              <a:defRPr sz="1200">
                <a:solidFill>
                  <a:srgbClr val="404040"/>
                </a:solidFill>
              </a:defRPr>
            </a:pPr>
            <a:r>
              <a:t>1. Ouvrez le fichier 'Blueprint_Complété.docx'</a:t>
            </a:r>
            <a:br/>
            <a:r>
              <a:t>2. Faites une capture du tableau (lignes 8-14)</a:t>
            </a:r>
            <a:br/>
            <a:r>
              <a:t>3. Collez la capture ici en remplaçant cet encadré</a:t>
            </a:r>
            <a:br/>
            <a:r>
              <a:t>4. Redimensionnez pour occuper l'espace disponible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JUSTIFICATION : POURQUOI POWER BI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Power BI s'impose comme l'outil optimal pour ce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Visualisations</a:t>
            </a:r>
            <a:br/>
            <a:r>
              <a:t>Interactives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Filtres dynamiques, drill-down intuitif, interactivité 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01168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Gestion optimale de milliers de lignes de données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Personnalisation avancée, thèmes cohérents, accessibilité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3192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069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DAX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Langage de formules puissant pour mesures calculées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93192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4069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4805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Géospatial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983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Cartes interactives natives pour visualisation mondiale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069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805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Actualisation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83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Mise à jour automatique des données, partage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6. ARCHITECTURE DU TABLEAU DE BORD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7315200" cy="13716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🌍 VUE MONDIALE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AABD3"/>
                </a:solidFill>
              </a:defRPr>
            </a:pPr>
            <a:r>
              <a:t>Agrégation globale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Carte du monde (stabilité politique)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Évolution population mondiale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KPIs clés (mortalité, accès eau)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7315200" cy="13716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1546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🌏 VUE CONTINENTALE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AABD3"/>
                </a:solidFill>
              </a:defRPr>
            </a:pPr>
            <a:r>
              <a:t>Sélection par région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46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Comparaison pays (bar charts)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Évolution temporelle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Scatter plots (accès vs mortalité)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63440"/>
            <a:ext cx="7315200" cy="13716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🏳️ VUE NATIONALE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AABD3"/>
                </a:solidFill>
              </a:defRPr>
            </a:pPr>
            <a:r>
              <a:t>Détail par pays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892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3 domaines d'expertise (scatter plots)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Rural vs Urbain (évolution)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Séries temporelles détaillées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SPÉCIFICATIONS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📊 Visualisations (5 types)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Line plot (évolutions temporelles)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Scatter plot (corrélations, 3 domaines)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Grouped bar plot (comparaisons)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7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Stacked bar plot (compositions)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19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Carte géographique (mondiale)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🔍 Filtres (4 minimum)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45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Quantitatif : Stabilité politique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202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Qualitatif : Région, Pays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945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Temporel : Année (2000-2018)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6887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✓ Géographique : Carte 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⚙️ Fonctionnalités avancées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• Champs calculés DAX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862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8 mesures personnalisées (moyennes, efficacité politique, 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• Jointures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348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Consolidation de 5 tables sources sur Country et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79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• Agrégations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83479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Par niveau mondial, continental et national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19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• Accessibilité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32119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Contraste 4.5:1, police 10pt+, navigation clavier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TABLEAU DE BORD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ABD3"/>
                </a:solidFill>
              </a:defRPr>
            </a:pPr>
            <a:r>
              <a:t>✓ 3 vues interactives (mondiale, continentale, nationale)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ABD3"/>
                </a:solidFill>
              </a:defRPr>
            </a:pPr>
            <a:r>
              <a:t>✓ Analyse sur 194 pays et 19 années (2000-2018)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ABD3"/>
                </a:solidFill>
              </a:defRPr>
            </a:pPr>
            <a:r>
              <a:t>✓ Identification des pays prioritaires par domaine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ABD3"/>
                </a:solidFill>
              </a:defRPr>
            </a:pPr>
            <a:r>
              <a:t>✓ Visualisations optimisées et accessibles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Un outil d'aide à la décision pour optimiser</a:t>
            </a:r>
            <a:br/>
            <a:r>
              <a:t>les interventions en matière d'accès à l'eau potable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6126480"/>
            <a:ext cx="36576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